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2" y="1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4062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NOTES — Slide 1: Title
Welcome the audience and introduce the project.
"Today I'm presenting A-iButler — a car issue triage chatbot I designed and built as part of the Build a Bot activity in AIML-500 at Indiana Wesleyan University. The project applies Design Thinking methodology to develop a practical AI assistant that helps vehicle owners describe symptoms and understand what to do next. This presentation documents the full design process, from empathy through testing, in accordance with APA 7th edition formatting standards."
Key points:
- Introduce yourself and the course context
- Explain this is both a practical AI build AND a documentation exercise
- Set expectations: this isn't just a chatbot demo — it's a full design process walkthrough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NOTES — Slide 2: Learning Objectives
"Before diving into the bot itself, here's the assignment context. AIML-500's AI Lab covers four activities — practicing with LLMs, exploring custom GPTs, using STORM AI for research, and the capstone activity: building a bot using Design Thinking."
Left column — Assignment Goals:
- These are the official course learning outcomes from the HW 1.4 document
- Emphasize that this is not just a technical build; it also requires analytical reflection and documentation
Right column — Deliverables:
- We worked through all four activities; today's presentation focuses on Activity 4 (Build a Bot)
- The bot must be accompanied by documentation that records the entire design process
- APA format is required for academic integrity and professional presentation standards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NOTES — Slide 3: Design Thinking Methodology
"Design Thinking is the guiding framework for this entire project. Rather than jumping straight to building a chatbot, we follow five phases to ensure the solution actually solves a real problem for real users."
Walk through each phase:
1. Empathy — We start by asking: who will use this, and what problem are they experiencing?
2. Problem — We translate empathy insights into a clear, actionable problem statement.
3. Ideation — We brainstorm potential AI solutions.
4. Prototype — We build A-iButler, a working chatbot powered by Claude's API.
5. Test — We validate with 10 structured scenarios.
Key insight: "What makes Design Thinking powerful in AI/ML is that it forces us to consider fairness, user needs, and ethical constraints before technical decisions."
Reference: IDEO (2015). The field guide to human-centered design. IDEO.org.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NOTES — Slide 4: Empathy Phase
"The first phase of Design Thinking is Empathy — and in AI/ML, this is where we decide whether a problem is real and who it affects."
Left panel — User Pain Points:
- The core empathy insight: most car owners are not mechanics. They experience symptoms but lack the vocabulary to communicate them precisely.
- This gap between user experience and technical language is exactly where an AI assistant can add value.
Right panel — User Persona:
- Alex represents the target user: an everyday driver, not technically trained
- The quote captures the core anxiety: urgency uncertainty
- A-iButler is designed to be non-alarmist and non-judgmental
Reference: Brown, T., et al. (2020). Language models are few-shot learners. NeurIPS.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NOTES — Slide 5: Problem Definition
"Phase 2 is the Define phase — where we take everything learned from empathy and turn it into a clear, actionable problem statement. The most powerful tool here is the 'How Might We' (HMW) question."
HMW Statement:
- Specific (non-technical car owners), outcome-focused (informed decision), human-centered
- The HMW framing keeps us focused on the user's need, not the technology
Three constraint cards:
1. Scope: Triage vs. diagnosis is an important distinction
2. Constraints: Directly protect users from making decisions based on bad information
3. Feasibility: Achievable through prompt engineering alone — no special database needed
Key insight: "Defining what the bot will NOT do is just as important as defining what it will 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NOTES — Slide 6: Ideation
"Phase 3 is Ideation — generate many ideas before committing to one. I brainstormed four different bot concepts, evaluated them, and selected A-iButler."
1. A-iButler (High): Feasible with just a system prompt. Easy to test. Clear user value.
2. Trip Planner Bot (Medium): Good idea but broader scope, harder to test systematically.
3. Recall Checker (Low): Requires NHTSA API integration — outside feasibility window.
4. Mechanic Finder (Low): Requires real-time location data, raises privacy concerns.
Key design principle: "Ideation is about finding the solution that best serves the user within realistic constraints."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NOTES — Slide 7: Prototype System Design
"Before writing the system prompt, I answered 10 planning questions from the Build a Bot activity. This grid is the blueprint for A-iButler."
Key design decisions:
- Objective: very specific — triage symptoms, return urgency + category + next steps
- Conversation Flow: mirrors how a real mechanic approaches triage
- Tone: non-alarmist but honest
- Not Allowed: critical for safety and ethics
- Success Criteria: defined before building — this is why we spent time on the plan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NOTES — Slide 8: The System Prompt
"The system prompt is the heart of A-iButler. Let me walk through its key components."
Section 1 — Identity and Role:
- Establishes persona, tone, and scope in one line
Section 2 — Three Outputs:
- Every triage conversation produces exactly three things: category, urgency, next steps
- This makes the bot's output predictable and testable
Section 3 — Urgency Levels:
- Three tiers answer the user's core fear: 'is this dangerous RIGHT NOW?'
Section 4 — Rules:
- These are the constraints from Phase 2 translated into bot instructions
- 'Always use likely or possible' is an ethical constraint, not just stylistic
Key technical insight: "This is prompt engineering — structuring natural language instructions to reliably shape LLM behavior. No fine-tuning required."
Reference: White, J., et al. (2023). A prompt pattern catalog. arXiv:2302.11382.</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NOTES — Slide 9: Test Scenarios
"Phase 5 is Testing — validating every behavioral rule in the system prompt. I designed 10 test scenarios, one for each key parameter."
Highlight specific scenarios:
Scenario 1 (Grinding when braking): The 'happy path' — clear symptom maps directly to urgent brake issue.
Scenario 5 (Off-topic): Tests the 'not allowed' constraint — does the bot stay on topic?
Scenario 6 (Cost estimate): Ethical constraint — bot should not speculate on repair costs.
Scenario 7 (Certainty language): Bot must always hedge — 'likely wheel bearing issue' not 'your wheel bearing is failing'.
Scenario 9 (Multiple symptoms): Tests sophistication — can the bot handle compound issues?
Key insight: "Good testing starts with clear success criteria defined BEFORE building."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NOTES — Slide 10: Outcomes &amp; Key Learnings
"The final phase of Design Thinking isn't just testing — it's reflection."
Left — What Worked Well:
- Design Thinking prevented us from building the wrong thing
- Prompt engineering is powerful: A-iButler's full personality lives in ~200 words of instructions
- The test plan discovered real issues with multi-symptom handling
Middle — Challenges:
- LLMs tend toward vagueness with vague inputs — explicit follow-up instructions were needed
- Triage vs. diagnosis boundary required careful iteration
Right — Future Improvements:
- OBD-II integration would be transformative
- EV-specific triage is a significant gap — EVs have fundamentally different failure modes
Closing thought: "The most important decisions in A-iButler's design were not about code — they were about people."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NOTES — Slide 11: References
"This slide lists all sources cited throughout the presentation, formatted per APA 7th edition."
Annotations:
1. Brown et al. (2020) — Foundational GPT-3 paper; relevant to LLM capabilities and prompt engineering.
2. IDEO (2015) — Authoritative guide to human-centered design; conceptual foundation of the project.
3. OpenAI (2023) — GPT-4 technical documentation; context on LLM capabilities and limitations.
4. Stanford STORM AI (2024) — The AI research tool explored in Activity 3.
5. White et al. (2023) — Prompt pattern catalog; directly applicable to A-iButler's system prompt design.
APA note: 7th edition uses hanging indent format, DOIs as hyperlinks, and '...' for author lists over 20.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9B1C1C"/>
          </a:solidFill>
          <a:ln w="12700">
            <a:solidFill>
              <a:srgbClr val="9B1C1C"/>
            </a:solidFill>
            <a:prstDash val="solid"/>
          </a:ln>
        </p:spPr>
        <p:txBody>
          <a:bodyPr/>
          <a:lstStyle/>
          <a:p>
            <a:endParaRPr lang="en-US"/>
          </a:p>
        </p:txBody>
      </p:sp>
      <p:sp>
        <p:nvSpPr>
          <p:cNvPr id="4" name="Text 2"/>
          <p:cNvSpPr/>
          <p:nvPr/>
        </p:nvSpPr>
        <p:spPr>
          <a:xfrm>
            <a:off x="376518" y="749808"/>
            <a:ext cx="8229600" cy="1234440"/>
          </a:xfrm>
          <a:prstGeom prst="rect">
            <a:avLst/>
          </a:prstGeom>
          <a:noFill/>
          <a:ln/>
        </p:spPr>
        <p:txBody>
          <a:bodyPr wrap="square" rtlCol="0" anchor="ctr"/>
          <a:lstStyle/>
          <a:p>
            <a:pPr marL="0" indent="0">
              <a:buNone/>
            </a:pPr>
            <a:r>
              <a:rPr lang="en-US" sz="3000" b="1" dirty="0">
                <a:solidFill>
                  <a:srgbClr val="1A202C"/>
                </a:solidFill>
                <a:latin typeface="Georgia" pitchFamily="34" charset="0"/>
                <a:ea typeface="Georgia" pitchFamily="34" charset="-122"/>
                <a:cs typeface="Georgia" pitchFamily="34" charset="-120"/>
              </a:rPr>
              <a:t>Assignment 1.4: AI LAB - Design Thinking, Build a Bot   </a:t>
            </a:r>
            <a:endParaRPr lang="en-US" sz="3000" dirty="0"/>
          </a:p>
        </p:txBody>
      </p:sp>
      <p:sp>
        <p:nvSpPr>
          <p:cNvPr id="5" name="Text 3"/>
          <p:cNvSpPr/>
          <p:nvPr/>
        </p:nvSpPr>
        <p:spPr>
          <a:xfrm>
            <a:off x="457200" y="2286000"/>
            <a:ext cx="8229600" cy="502920"/>
          </a:xfrm>
          <a:prstGeom prst="rect">
            <a:avLst/>
          </a:prstGeom>
          <a:noFill/>
          <a:ln/>
        </p:spPr>
        <p:txBody>
          <a:bodyPr wrap="square" rtlCol="0" anchor="ctr"/>
          <a:lstStyle/>
          <a:p>
            <a:r>
              <a:rPr lang="en-US" sz="2400" b="1" dirty="0">
                <a:solidFill>
                  <a:srgbClr val="1A202C"/>
                </a:solidFill>
                <a:latin typeface="Georgia" pitchFamily="34" charset="0"/>
                <a:ea typeface="Georgia" pitchFamily="34" charset="-122"/>
                <a:cs typeface="Georgia" pitchFamily="34" charset="-120"/>
              </a:rPr>
              <a:t>A-</a:t>
            </a:r>
            <a:r>
              <a:rPr lang="en-US" sz="2400" b="1" dirty="0" err="1">
                <a:solidFill>
                  <a:srgbClr val="1A202C"/>
                </a:solidFill>
                <a:latin typeface="Georgia" pitchFamily="34" charset="0"/>
                <a:ea typeface="Georgia" pitchFamily="34" charset="-122"/>
                <a:cs typeface="Georgia" pitchFamily="34" charset="-120"/>
              </a:rPr>
              <a:t>iButler</a:t>
            </a:r>
            <a:endParaRPr lang="en-US" sz="2400" dirty="0"/>
          </a:p>
          <a:p>
            <a:pPr marL="0" indent="0">
              <a:buNone/>
            </a:pPr>
            <a:r>
              <a:rPr lang="en-US" sz="2200" dirty="0">
                <a:solidFill>
                  <a:srgbClr val="9B1C1C"/>
                </a:solidFill>
                <a:latin typeface="Calibri" pitchFamily="34" charset="0"/>
                <a:ea typeface="Calibri" pitchFamily="34" charset="-122"/>
                <a:cs typeface="Calibri" pitchFamily="34" charset="-120"/>
              </a:rPr>
              <a:t>A Car Issue Triage Assistant</a:t>
            </a:r>
            <a:endParaRPr lang="en-US" sz="2200" dirty="0"/>
          </a:p>
        </p:txBody>
      </p:sp>
      <p:sp>
        <p:nvSpPr>
          <p:cNvPr id="6" name="Shape 4"/>
          <p:cNvSpPr/>
          <p:nvPr/>
        </p:nvSpPr>
        <p:spPr>
          <a:xfrm>
            <a:off x="457200" y="2926080"/>
            <a:ext cx="3200400" cy="0"/>
          </a:xfrm>
          <a:prstGeom prst="line">
            <a:avLst/>
          </a:prstGeom>
          <a:noFill/>
          <a:ln w="19050">
            <a:solidFill>
              <a:srgbClr val="E2E8F0"/>
            </a:solidFill>
            <a:prstDash val="solid"/>
          </a:ln>
        </p:spPr>
        <p:txBody>
          <a:bodyPr/>
          <a:lstStyle/>
          <a:p>
            <a:endParaRPr lang="en-US"/>
          </a:p>
        </p:txBody>
      </p:sp>
      <p:sp>
        <p:nvSpPr>
          <p:cNvPr id="7" name="Text 5"/>
          <p:cNvSpPr/>
          <p:nvPr/>
        </p:nvSpPr>
        <p:spPr>
          <a:xfrm>
            <a:off x="457200" y="3413402"/>
            <a:ext cx="6400800" cy="685800"/>
          </a:xfrm>
          <a:prstGeom prst="rect">
            <a:avLst/>
          </a:prstGeom>
          <a:noFill/>
          <a:ln/>
        </p:spPr>
        <p:txBody>
          <a:bodyPr wrap="square" rtlCol="0" anchor="ctr"/>
          <a:lstStyle/>
          <a:p>
            <a:pPr marL="0" indent="0">
              <a:buNone/>
            </a:pPr>
            <a:r>
              <a:rPr lang="en-US" sz="1200" dirty="0">
                <a:solidFill>
                  <a:srgbClr val="4A5568"/>
                </a:solidFill>
                <a:latin typeface="Calibri" pitchFamily="34" charset="0"/>
                <a:ea typeface="Calibri" pitchFamily="34" charset="-122"/>
                <a:cs typeface="Calibri" pitchFamily="34" charset="-120"/>
              </a:rPr>
              <a:t>Somto Anyaegbu</a:t>
            </a:r>
          </a:p>
          <a:p>
            <a:pPr marL="0" indent="0">
              <a:buNone/>
            </a:pPr>
            <a:r>
              <a:rPr lang="en-US" sz="1200" dirty="0">
                <a:solidFill>
                  <a:srgbClr val="4A5568"/>
                </a:solidFill>
                <a:latin typeface="Calibri" pitchFamily="34" charset="0"/>
                <a:ea typeface="Calibri" pitchFamily="34" charset="-122"/>
                <a:cs typeface="Calibri" pitchFamily="34" charset="-120"/>
              </a:rPr>
              <a:t>College of Adult and Professional Studies, Indiana Wesleyan University</a:t>
            </a:r>
          </a:p>
          <a:p>
            <a:pPr marL="0" indent="0">
              <a:buNone/>
            </a:pPr>
            <a:r>
              <a:rPr lang="en-US" sz="1200" dirty="0">
                <a:solidFill>
                  <a:srgbClr val="4A5568"/>
                </a:solidFill>
                <a:latin typeface="Calibri" pitchFamily="34" charset="0"/>
                <a:ea typeface="Calibri" pitchFamily="34" charset="-122"/>
                <a:cs typeface="Calibri" pitchFamily="34" charset="-120"/>
              </a:rPr>
              <a:t>AIML-500: Machine Learning Fundamentals •  </a:t>
            </a:r>
            <a:r>
              <a:rPr lang="en-US" sz="1200">
                <a:solidFill>
                  <a:srgbClr val="4A5568"/>
                </a:solidFill>
                <a:latin typeface="Calibri" pitchFamily="34" charset="0"/>
                <a:ea typeface="Calibri" pitchFamily="34" charset="-122"/>
                <a:cs typeface="Calibri" pitchFamily="34" charset="-120"/>
              </a:rPr>
              <a:t>Antonio Singleton  </a:t>
            </a:r>
            <a:br>
              <a:rPr lang="en-US" sz="1200" dirty="0">
                <a:solidFill>
                  <a:srgbClr val="4A5568"/>
                </a:solidFill>
                <a:latin typeface="Calibri" pitchFamily="34" charset="0"/>
                <a:ea typeface="Calibri" pitchFamily="34" charset="-122"/>
                <a:cs typeface="Calibri" pitchFamily="34" charset="-120"/>
              </a:rPr>
            </a:br>
            <a:r>
              <a:rPr lang="en-US" sz="1200" dirty="0">
                <a:solidFill>
                  <a:srgbClr val="4A5568"/>
                </a:solidFill>
                <a:latin typeface="Calibri" pitchFamily="34" charset="0"/>
                <a:ea typeface="Calibri" pitchFamily="34" charset="-122"/>
                <a:cs typeface="Calibri" pitchFamily="34" charset="-120"/>
              </a:rPr>
              <a:t>March 15</a:t>
            </a:r>
            <a:r>
              <a:rPr lang="en-US" sz="1200" baseline="30000" dirty="0">
                <a:solidFill>
                  <a:srgbClr val="4A5568"/>
                </a:solidFill>
                <a:latin typeface="Calibri" pitchFamily="34" charset="0"/>
                <a:ea typeface="Calibri" pitchFamily="34" charset="-122"/>
                <a:cs typeface="Calibri" pitchFamily="34" charset="-120"/>
              </a:rPr>
              <a:t>th</a:t>
            </a:r>
            <a:r>
              <a:rPr lang="en-US" sz="1200" dirty="0">
                <a:solidFill>
                  <a:srgbClr val="4A5568"/>
                </a:solidFill>
                <a:latin typeface="Calibri" pitchFamily="34" charset="0"/>
                <a:ea typeface="Calibri" pitchFamily="34" charset="-122"/>
                <a:cs typeface="Calibri" pitchFamily="34" charset="-120"/>
              </a:rPr>
              <a:t>, 2026  </a:t>
            </a:r>
          </a:p>
        </p:txBody>
      </p:sp>
      <p:sp>
        <p:nvSpPr>
          <p:cNvPr id="8" name="Shape 6"/>
          <p:cNvSpPr/>
          <p:nvPr/>
        </p:nvSpPr>
        <p:spPr>
          <a:xfrm>
            <a:off x="0" y="4617720"/>
            <a:ext cx="9144000" cy="525780"/>
          </a:xfrm>
          <a:prstGeom prst="rect">
            <a:avLst/>
          </a:prstGeom>
          <a:solidFill>
            <a:srgbClr val="F0F2F5"/>
          </a:solidFill>
          <a:ln w="12700">
            <a:solidFill>
              <a:srgbClr val="F0F2F5"/>
            </a:solidFill>
            <a:prstDash val="solid"/>
          </a:ln>
        </p:spPr>
        <p:txBody>
          <a:bodyPr/>
          <a:lstStyle/>
          <a:p>
            <a:endParaRPr lang="en-US"/>
          </a:p>
        </p:txBody>
      </p:sp>
      <p:sp>
        <p:nvSpPr>
          <p:cNvPr id="9" name="Text 7"/>
          <p:cNvSpPr/>
          <p:nvPr/>
        </p:nvSpPr>
        <p:spPr>
          <a:xfrm>
            <a:off x="457200" y="4663440"/>
            <a:ext cx="8229600" cy="411480"/>
          </a:xfrm>
          <a:prstGeom prst="rect">
            <a:avLst/>
          </a:prstGeom>
          <a:noFill/>
          <a:ln/>
        </p:spPr>
        <p:txBody>
          <a:bodyPr wrap="square" rtlCol="0" anchor="ctr"/>
          <a:lstStyle/>
          <a:p>
            <a:pPr marL="0" indent="0">
              <a:buNone/>
            </a:pP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246888"/>
          </a:xfrm>
          <a:prstGeom prst="roundRect">
            <a:avLst>
              <a:gd name="adj" fmla="val 22222"/>
            </a:avLst>
          </a:prstGeom>
          <a:solidFill>
            <a:srgbClr val="FEF2F2"/>
          </a:solidFill>
          <a:ln w="6350">
            <a:solidFill>
              <a:srgbClr val="F87171"/>
            </a:solidFill>
            <a:prstDash val="solid"/>
          </a:ln>
        </p:spPr>
        <p:txBody>
          <a:bodyPr/>
          <a:lstStyle/>
          <a:p>
            <a:endParaRPr lang="en-US"/>
          </a:p>
        </p:txBody>
      </p:sp>
      <p:sp>
        <p:nvSpPr>
          <p:cNvPr id="3" name="Text 1"/>
          <p:cNvSpPr/>
          <p:nvPr/>
        </p:nvSpPr>
        <p:spPr>
          <a:xfrm>
            <a:off x="457200" y="274320"/>
            <a:ext cx="1371600" cy="246888"/>
          </a:xfrm>
          <a:prstGeom prst="rect">
            <a:avLst/>
          </a:prstGeom>
          <a:noFill/>
          <a:ln/>
        </p:spPr>
        <p:txBody>
          <a:bodyPr wrap="square" lIns="0" tIns="0" rIns="0" bIns="0" rtlCol="0" anchor="ctr"/>
          <a:lstStyle/>
          <a:p>
            <a:pPr marL="0" indent="0" algn="ctr">
              <a:buNone/>
            </a:pPr>
            <a:r>
              <a:rPr lang="en-US" sz="750" b="1" dirty="0">
                <a:solidFill>
                  <a:srgbClr val="9B1C1C"/>
                </a:solidFill>
              </a:rPr>
              <a:t>ASSIGNMENT OVERVIEW</a:t>
            </a:r>
            <a:endParaRPr lang="en-US" sz="750" dirty="0"/>
          </a:p>
        </p:txBody>
      </p:sp>
      <p:sp>
        <p:nvSpPr>
          <p:cNvPr id="4" name="Text 2"/>
          <p:cNvSpPr/>
          <p:nvPr/>
        </p:nvSpPr>
        <p:spPr>
          <a:xfrm>
            <a:off x="457200" y="621792"/>
            <a:ext cx="8229600" cy="658368"/>
          </a:xfrm>
          <a:prstGeom prst="rect">
            <a:avLst/>
          </a:prstGeom>
          <a:noFill/>
          <a:ln/>
        </p:spPr>
        <p:txBody>
          <a:bodyPr wrap="square" rtlCol="0" anchor="ctr"/>
          <a:lstStyle/>
          <a:p>
            <a:pPr marL="0" indent="0" algn="l">
              <a:buNone/>
            </a:pPr>
            <a:r>
              <a:rPr lang="en-US" sz="3200" b="1" dirty="0">
                <a:solidFill>
                  <a:srgbClr val="1A202C"/>
                </a:solidFill>
                <a:latin typeface="Georgia" pitchFamily="34" charset="0"/>
                <a:ea typeface="Georgia" pitchFamily="34" charset="-122"/>
                <a:cs typeface="Georgia" pitchFamily="34" charset="-120"/>
              </a:rPr>
              <a:t>Learning Objectives</a:t>
            </a:r>
            <a:endParaRPr lang="en-US" sz="3200" dirty="0"/>
          </a:p>
        </p:txBody>
      </p:sp>
      <p:sp>
        <p:nvSpPr>
          <p:cNvPr id="5" name="Shape 3"/>
          <p:cNvSpPr/>
          <p:nvPr/>
        </p:nvSpPr>
        <p:spPr>
          <a:xfrm>
            <a:off x="457200" y="1325880"/>
            <a:ext cx="8229600" cy="0"/>
          </a:xfrm>
          <a:prstGeom prst="line">
            <a:avLst/>
          </a:prstGeom>
          <a:noFill/>
          <a:ln w="12700">
            <a:solidFill>
              <a:srgbClr val="E2E8F0"/>
            </a:solidFill>
            <a:prstDash val="solid"/>
          </a:ln>
        </p:spPr>
        <p:txBody>
          <a:bodyPr/>
          <a:lstStyle/>
          <a:p>
            <a:endParaRPr lang="en-US"/>
          </a:p>
        </p:txBody>
      </p:sp>
      <p:sp>
        <p:nvSpPr>
          <p:cNvPr id="6" name="Shape 4"/>
          <p:cNvSpPr/>
          <p:nvPr/>
        </p:nvSpPr>
        <p:spPr>
          <a:xfrm>
            <a:off x="457200" y="1444752"/>
            <a:ext cx="3931920" cy="3154680"/>
          </a:xfrm>
          <a:prstGeom prst="rect">
            <a:avLst/>
          </a:prstGeom>
          <a:solidFill>
            <a:srgbClr val="F8F9FA"/>
          </a:solidFill>
          <a:ln w="9525">
            <a:solidFill>
              <a:srgbClr val="E2E8F0"/>
            </a:solidFill>
            <a:prstDash val="solid"/>
          </a:ln>
        </p:spPr>
        <p:txBody>
          <a:bodyPr/>
          <a:lstStyle/>
          <a:p>
            <a:endParaRPr lang="en-US"/>
          </a:p>
        </p:txBody>
      </p:sp>
      <p:sp>
        <p:nvSpPr>
          <p:cNvPr id="7" name="Shape 5"/>
          <p:cNvSpPr/>
          <p:nvPr/>
        </p:nvSpPr>
        <p:spPr>
          <a:xfrm>
            <a:off x="457200" y="1444752"/>
            <a:ext cx="3931920" cy="347472"/>
          </a:xfrm>
          <a:prstGeom prst="rect">
            <a:avLst/>
          </a:prstGeom>
          <a:solidFill>
            <a:srgbClr val="9B1C1C"/>
          </a:solidFill>
          <a:ln w="12700">
            <a:solidFill>
              <a:srgbClr val="9B1C1C"/>
            </a:solidFill>
            <a:prstDash val="solid"/>
          </a:ln>
        </p:spPr>
        <p:txBody>
          <a:bodyPr/>
          <a:lstStyle/>
          <a:p>
            <a:endParaRPr lang="en-US"/>
          </a:p>
        </p:txBody>
      </p:sp>
      <p:sp>
        <p:nvSpPr>
          <p:cNvPr id="8" name="Text 6"/>
          <p:cNvSpPr/>
          <p:nvPr/>
        </p:nvSpPr>
        <p:spPr>
          <a:xfrm>
            <a:off x="457200" y="1444752"/>
            <a:ext cx="39319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Assignment Goals</a:t>
            </a:r>
            <a:endParaRPr lang="en-US" sz="1100" dirty="0"/>
          </a:p>
        </p:txBody>
      </p:sp>
      <p:sp>
        <p:nvSpPr>
          <p:cNvPr id="9" name="Text 7"/>
          <p:cNvSpPr/>
          <p:nvPr/>
        </p:nvSpPr>
        <p:spPr>
          <a:xfrm>
            <a:off x="621792" y="1901952"/>
            <a:ext cx="3602736" cy="2606040"/>
          </a:xfrm>
          <a:prstGeom prst="rect">
            <a:avLst/>
          </a:prstGeom>
          <a:noFill/>
          <a:ln/>
        </p:spPr>
        <p:txBody>
          <a:bodyPr wrap="square" rtlCol="0" anchor="ctr"/>
          <a:lstStyle/>
          <a:p>
            <a:pPr marL="342900" indent="-342900">
              <a:spcAft>
                <a:spcPts val="700"/>
              </a:spcAft>
              <a:buSzPct val="100000"/>
              <a:buChar char="•"/>
            </a:pPr>
            <a:r>
              <a:rPr lang="en-US" sz="1200" dirty="0">
                <a:solidFill>
                  <a:srgbClr val="4A5568"/>
                </a:solidFill>
                <a:latin typeface="Calibri" pitchFamily="34" charset="0"/>
                <a:ea typeface="Calibri" pitchFamily="34" charset="-122"/>
                <a:cs typeface="Calibri" pitchFamily="34" charset="-120"/>
              </a:rPr>
              <a:t>Demonstrate proficiency with generative AI tools</a:t>
            </a:r>
            <a:endParaRPr lang="en-US" sz="1200" dirty="0"/>
          </a:p>
          <a:p>
            <a:pPr marL="342900" indent="-342900">
              <a:spcAft>
                <a:spcPts val="700"/>
              </a:spcAft>
              <a:buSzPct val="100000"/>
              <a:buChar char="•"/>
            </a:pPr>
            <a:r>
              <a:rPr lang="en-US" sz="1200" dirty="0">
                <a:solidFill>
                  <a:srgbClr val="4A5568"/>
                </a:solidFill>
                <a:latin typeface="Calibri" pitchFamily="34" charset="0"/>
                <a:ea typeface="Calibri" pitchFamily="34" charset="-122"/>
                <a:cs typeface="Calibri" pitchFamily="34" charset="-120"/>
              </a:rPr>
              <a:t>Analyze AI tool results and synthesize insights</a:t>
            </a:r>
            <a:endParaRPr lang="en-US" sz="1200" dirty="0"/>
          </a:p>
          <a:p>
            <a:pPr marL="342900" indent="-342900">
              <a:spcAft>
                <a:spcPts val="700"/>
              </a:spcAft>
              <a:buSzPct val="100000"/>
              <a:buChar char="•"/>
            </a:pPr>
            <a:r>
              <a:rPr lang="en-US" sz="1200" dirty="0">
                <a:solidFill>
                  <a:srgbClr val="4A5568"/>
                </a:solidFill>
                <a:latin typeface="Calibri" pitchFamily="34" charset="0"/>
                <a:ea typeface="Calibri" pitchFamily="34" charset="-122"/>
                <a:cs typeface="Calibri" pitchFamily="34" charset="-120"/>
              </a:rPr>
              <a:t>Apply design thinking to develop an AI-based solution</a:t>
            </a:r>
            <a:endParaRPr lang="en-US" sz="1200" dirty="0"/>
          </a:p>
          <a:p>
            <a:pPr marL="342900" indent="-342900">
              <a:spcAft>
                <a:spcPts val="700"/>
              </a:spcAft>
              <a:buSzPct val="100000"/>
              <a:buChar char="•"/>
            </a:pPr>
            <a:r>
              <a:rPr lang="en-US" sz="1200" dirty="0">
                <a:solidFill>
                  <a:srgbClr val="4A5568"/>
                </a:solidFill>
                <a:latin typeface="Calibri" pitchFamily="34" charset="0"/>
                <a:ea typeface="Calibri" pitchFamily="34" charset="-122"/>
                <a:cs typeface="Calibri" pitchFamily="34" charset="-120"/>
              </a:rPr>
              <a:t>Document and submit the full process</a:t>
            </a:r>
            <a:endParaRPr lang="en-US" sz="1200" dirty="0"/>
          </a:p>
        </p:txBody>
      </p:sp>
      <p:sp>
        <p:nvSpPr>
          <p:cNvPr id="10" name="Shape 8"/>
          <p:cNvSpPr/>
          <p:nvPr/>
        </p:nvSpPr>
        <p:spPr>
          <a:xfrm>
            <a:off x="4754880" y="1444752"/>
            <a:ext cx="3931920" cy="3154680"/>
          </a:xfrm>
          <a:prstGeom prst="rect">
            <a:avLst/>
          </a:prstGeom>
          <a:solidFill>
            <a:srgbClr val="F8F9FA"/>
          </a:solidFill>
          <a:ln w="9525">
            <a:solidFill>
              <a:srgbClr val="E2E8F0"/>
            </a:solidFill>
            <a:prstDash val="solid"/>
          </a:ln>
        </p:spPr>
        <p:txBody>
          <a:bodyPr/>
          <a:lstStyle/>
          <a:p>
            <a:endParaRPr lang="en-US"/>
          </a:p>
        </p:txBody>
      </p:sp>
      <p:sp>
        <p:nvSpPr>
          <p:cNvPr id="11" name="Shape 9"/>
          <p:cNvSpPr/>
          <p:nvPr/>
        </p:nvSpPr>
        <p:spPr>
          <a:xfrm>
            <a:off x="4754880" y="1444752"/>
            <a:ext cx="3931920" cy="347472"/>
          </a:xfrm>
          <a:prstGeom prst="rect">
            <a:avLst/>
          </a:prstGeom>
          <a:solidFill>
            <a:srgbClr val="4A5568"/>
          </a:solidFill>
          <a:ln w="12700">
            <a:solidFill>
              <a:srgbClr val="4A5568"/>
            </a:solidFill>
            <a:prstDash val="solid"/>
          </a:ln>
        </p:spPr>
        <p:txBody>
          <a:bodyPr/>
          <a:lstStyle/>
          <a:p>
            <a:endParaRPr lang="en-US"/>
          </a:p>
        </p:txBody>
      </p:sp>
      <p:sp>
        <p:nvSpPr>
          <p:cNvPr id="12" name="Text 10"/>
          <p:cNvSpPr/>
          <p:nvPr/>
        </p:nvSpPr>
        <p:spPr>
          <a:xfrm>
            <a:off x="4754880" y="1444752"/>
            <a:ext cx="39319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Deliverables</a:t>
            </a:r>
            <a:endParaRPr lang="en-US" sz="1100" dirty="0"/>
          </a:p>
        </p:txBody>
      </p:sp>
      <p:sp>
        <p:nvSpPr>
          <p:cNvPr id="13" name="Text 11"/>
          <p:cNvSpPr/>
          <p:nvPr/>
        </p:nvSpPr>
        <p:spPr>
          <a:xfrm>
            <a:off x="4919472" y="1901952"/>
            <a:ext cx="3602736" cy="2606040"/>
          </a:xfrm>
          <a:prstGeom prst="rect">
            <a:avLst/>
          </a:prstGeom>
          <a:noFill/>
          <a:ln/>
        </p:spPr>
        <p:txBody>
          <a:bodyPr wrap="square" rtlCol="0" anchor="ctr"/>
          <a:lstStyle/>
          <a:p>
            <a:pPr marL="342900" indent="-342900">
              <a:spcAft>
                <a:spcPts val="700"/>
              </a:spcAft>
              <a:buSzPct val="100000"/>
              <a:buChar char="•"/>
            </a:pPr>
            <a:r>
              <a:rPr lang="en-US" sz="1200" dirty="0">
                <a:solidFill>
                  <a:srgbClr val="4A5568"/>
                </a:solidFill>
                <a:latin typeface="Calibri" pitchFamily="34" charset="0"/>
                <a:ea typeface="Calibri" pitchFamily="34" charset="-122"/>
                <a:cs typeface="Calibri" pitchFamily="34" charset="-120"/>
              </a:rPr>
              <a:t>Activity 1: Practice with an LLM</a:t>
            </a:r>
            <a:endParaRPr lang="en-US" sz="1200" dirty="0"/>
          </a:p>
          <a:p>
            <a:pPr marL="342900" indent="-342900">
              <a:spcAft>
                <a:spcPts val="700"/>
              </a:spcAft>
              <a:buSzPct val="100000"/>
              <a:buChar char="•"/>
            </a:pPr>
            <a:r>
              <a:rPr lang="en-US" sz="1200" dirty="0">
                <a:solidFill>
                  <a:srgbClr val="4A5568"/>
                </a:solidFill>
                <a:latin typeface="Calibri" pitchFamily="34" charset="0"/>
                <a:ea typeface="Calibri" pitchFamily="34" charset="-122"/>
                <a:cs typeface="Calibri" pitchFamily="34" charset="-120"/>
              </a:rPr>
              <a:t>Activity 2: Practice with custom GPTs</a:t>
            </a:r>
            <a:endParaRPr lang="en-US" sz="1200" dirty="0"/>
          </a:p>
          <a:p>
            <a:pPr marL="342900" indent="-342900">
              <a:spcAft>
                <a:spcPts val="700"/>
              </a:spcAft>
              <a:buSzPct val="100000"/>
              <a:buChar char="•"/>
            </a:pPr>
            <a:r>
              <a:rPr lang="en-US" sz="1200" dirty="0">
                <a:solidFill>
                  <a:srgbClr val="4A5568"/>
                </a:solidFill>
                <a:latin typeface="Calibri" pitchFamily="34" charset="0"/>
                <a:ea typeface="Calibri" pitchFamily="34" charset="-122"/>
                <a:cs typeface="Calibri" pitchFamily="34" charset="-120"/>
              </a:rPr>
              <a:t>Activity 3: Practice with STORM AI research tool</a:t>
            </a:r>
            <a:endParaRPr lang="en-US" sz="1200" dirty="0"/>
          </a:p>
          <a:p>
            <a:pPr marL="342900" indent="-342900">
              <a:spcAft>
                <a:spcPts val="700"/>
              </a:spcAft>
              <a:buSzPct val="100000"/>
              <a:buChar char="•"/>
            </a:pPr>
            <a:r>
              <a:rPr lang="en-US" sz="1200" dirty="0">
                <a:solidFill>
                  <a:srgbClr val="4A5568"/>
                </a:solidFill>
                <a:latin typeface="Calibri" pitchFamily="34" charset="0"/>
                <a:ea typeface="Calibri" pitchFamily="34" charset="-122"/>
                <a:cs typeface="Calibri" pitchFamily="34" charset="-120"/>
              </a:rPr>
              <a:t>Activity 4: Build a Bot using Design Thinking</a:t>
            </a:r>
            <a:endParaRPr lang="en-US" sz="1200" dirty="0"/>
          </a:p>
          <a:p>
            <a:pPr marL="342900" indent="-342900">
              <a:spcAft>
                <a:spcPts val="700"/>
              </a:spcAft>
              <a:buSzPct val="100000"/>
              <a:buChar char="•"/>
            </a:pPr>
            <a:r>
              <a:rPr lang="en-US" sz="1200" dirty="0">
                <a:solidFill>
                  <a:srgbClr val="4A5568"/>
                </a:solidFill>
                <a:latin typeface="Calibri" pitchFamily="34" charset="0"/>
                <a:ea typeface="Calibri" pitchFamily="34" charset="-122"/>
                <a:cs typeface="Calibri" pitchFamily="34" charset="-120"/>
              </a:rPr>
              <a:t>Full documentation + link to bot</a:t>
            </a:r>
            <a:endParaRPr lang="en-US" sz="1200" dirty="0"/>
          </a:p>
        </p:txBody>
      </p:sp>
      <p:sp>
        <p:nvSpPr>
          <p:cNvPr id="14" name="Shape 12"/>
          <p:cNvSpPr/>
          <p:nvPr/>
        </p:nvSpPr>
        <p:spPr>
          <a:xfrm>
            <a:off x="457200" y="4736592"/>
            <a:ext cx="8229600" cy="0"/>
          </a:xfrm>
          <a:prstGeom prst="line">
            <a:avLst/>
          </a:prstGeom>
          <a:noFill/>
          <a:ln w="12700">
            <a:solidFill>
              <a:srgbClr val="E2E8F0"/>
            </a:solidFill>
            <a:prstDash val="solid"/>
          </a:ln>
        </p:spPr>
        <p:txBody>
          <a:bodyPr/>
          <a:lstStyle/>
          <a:p>
            <a:endParaRPr lang="en-US"/>
          </a:p>
        </p:txBody>
      </p:sp>
      <p:sp>
        <p:nvSpPr>
          <p:cNvPr id="16" name="Text 14"/>
          <p:cNvSpPr/>
          <p:nvPr/>
        </p:nvSpPr>
        <p:spPr>
          <a:xfrm>
            <a:off x="8503920" y="4773168"/>
            <a:ext cx="411480" cy="228600"/>
          </a:xfrm>
          <a:prstGeom prst="rect">
            <a:avLst/>
          </a:prstGeom>
          <a:noFill/>
          <a:ln/>
        </p:spPr>
        <p:txBody>
          <a:bodyPr wrap="square" rtlCol="0" anchor="ctr"/>
          <a:lstStyle/>
          <a:p>
            <a:pPr marL="0" indent="0" algn="r">
              <a:buNone/>
            </a:pPr>
            <a:r>
              <a:rPr lang="en-US" sz="900" dirty="0">
                <a:solidFill>
                  <a:srgbClr val="9AA3B0"/>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246888"/>
          </a:xfrm>
          <a:prstGeom prst="roundRect">
            <a:avLst>
              <a:gd name="adj" fmla="val 22222"/>
            </a:avLst>
          </a:prstGeom>
          <a:solidFill>
            <a:srgbClr val="FEF2F2"/>
          </a:solidFill>
          <a:ln w="6350">
            <a:solidFill>
              <a:srgbClr val="F87171"/>
            </a:solidFill>
            <a:prstDash val="solid"/>
          </a:ln>
        </p:spPr>
        <p:txBody>
          <a:bodyPr/>
          <a:lstStyle/>
          <a:p>
            <a:endParaRPr lang="en-US"/>
          </a:p>
        </p:txBody>
      </p:sp>
      <p:sp>
        <p:nvSpPr>
          <p:cNvPr id="3" name="Text 1"/>
          <p:cNvSpPr/>
          <p:nvPr/>
        </p:nvSpPr>
        <p:spPr>
          <a:xfrm>
            <a:off x="457200" y="274320"/>
            <a:ext cx="1371600" cy="246888"/>
          </a:xfrm>
          <a:prstGeom prst="rect">
            <a:avLst/>
          </a:prstGeom>
          <a:noFill/>
          <a:ln/>
        </p:spPr>
        <p:txBody>
          <a:bodyPr wrap="square" lIns="0" tIns="0" rIns="0" bIns="0" rtlCol="0" anchor="ctr"/>
          <a:lstStyle/>
          <a:p>
            <a:pPr marL="0" indent="0" algn="ctr">
              <a:buNone/>
            </a:pPr>
            <a:r>
              <a:rPr lang="en-US" sz="750" b="1" dirty="0">
                <a:solidFill>
                  <a:srgbClr val="9B1C1C"/>
                </a:solidFill>
              </a:rPr>
              <a:t>FRAMEWORK</a:t>
            </a:r>
            <a:endParaRPr lang="en-US" sz="750" dirty="0"/>
          </a:p>
        </p:txBody>
      </p:sp>
      <p:sp>
        <p:nvSpPr>
          <p:cNvPr id="4" name="Text 2"/>
          <p:cNvSpPr/>
          <p:nvPr/>
        </p:nvSpPr>
        <p:spPr>
          <a:xfrm>
            <a:off x="457200" y="621792"/>
            <a:ext cx="8229600" cy="658368"/>
          </a:xfrm>
          <a:prstGeom prst="rect">
            <a:avLst/>
          </a:prstGeom>
          <a:noFill/>
          <a:ln/>
        </p:spPr>
        <p:txBody>
          <a:bodyPr wrap="square" rtlCol="0" anchor="ctr"/>
          <a:lstStyle/>
          <a:p>
            <a:pPr marL="0" indent="0" algn="l">
              <a:buNone/>
            </a:pPr>
            <a:r>
              <a:rPr lang="en-US" sz="3200" b="1" dirty="0">
                <a:solidFill>
                  <a:srgbClr val="1A202C"/>
                </a:solidFill>
                <a:latin typeface="Georgia" pitchFamily="34" charset="0"/>
                <a:ea typeface="Georgia" pitchFamily="34" charset="-122"/>
                <a:cs typeface="Georgia" pitchFamily="34" charset="-120"/>
              </a:rPr>
              <a:t>Design Thinking Methodology</a:t>
            </a:r>
            <a:endParaRPr lang="en-US" sz="3200" dirty="0"/>
          </a:p>
        </p:txBody>
      </p:sp>
      <p:sp>
        <p:nvSpPr>
          <p:cNvPr id="5" name="Shape 3"/>
          <p:cNvSpPr/>
          <p:nvPr/>
        </p:nvSpPr>
        <p:spPr>
          <a:xfrm>
            <a:off x="457200" y="1325880"/>
            <a:ext cx="8229600" cy="0"/>
          </a:xfrm>
          <a:prstGeom prst="line">
            <a:avLst/>
          </a:prstGeom>
          <a:noFill/>
          <a:ln w="12700">
            <a:solidFill>
              <a:srgbClr val="E2E8F0"/>
            </a:solidFill>
            <a:prstDash val="solid"/>
          </a:ln>
        </p:spPr>
        <p:txBody>
          <a:bodyPr/>
          <a:lstStyle/>
          <a:p>
            <a:endParaRPr lang="en-US"/>
          </a:p>
        </p:txBody>
      </p:sp>
      <p:sp>
        <p:nvSpPr>
          <p:cNvPr id="6" name="Shape 4"/>
          <p:cNvSpPr/>
          <p:nvPr/>
        </p:nvSpPr>
        <p:spPr>
          <a:xfrm>
            <a:off x="457200" y="1463040"/>
            <a:ext cx="1508760" cy="2560320"/>
          </a:xfrm>
          <a:prstGeom prst="rect">
            <a:avLst/>
          </a:prstGeom>
          <a:solidFill>
            <a:srgbClr val="FEF2F2"/>
          </a:solidFill>
          <a:ln w="9525">
            <a:solidFill>
              <a:srgbClr val="E2E8F0"/>
            </a:solidFill>
            <a:prstDash val="solid"/>
          </a:ln>
        </p:spPr>
        <p:txBody>
          <a:bodyPr/>
          <a:lstStyle/>
          <a:p>
            <a:endParaRPr lang="en-US"/>
          </a:p>
        </p:txBody>
      </p:sp>
      <p:sp>
        <p:nvSpPr>
          <p:cNvPr id="7" name="Shape 5"/>
          <p:cNvSpPr/>
          <p:nvPr/>
        </p:nvSpPr>
        <p:spPr>
          <a:xfrm>
            <a:off x="457200" y="1463040"/>
            <a:ext cx="1508760" cy="347472"/>
          </a:xfrm>
          <a:prstGeom prst="rect">
            <a:avLst/>
          </a:prstGeom>
          <a:solidFill>
            <a:srgbClr val="9B1C1C"/>
          </a:solidFill>
          <a:ln w="12700">
            <a:solidFill>
              <a:srgbClr val="9B1C1C"/>
            </a:solidFill>
            <a:prstDash val="solid"/>
          </a:ln>
        </p:spPr>
        <p:txBody>
          <a:bodyPr/>
          <a:lstStyle/>
          <a:p>
            <a:endParaRPr lang="en-US"/>
          </a:p>
        </p:txBody>
      </p:sp>
      <p:sp>
        <p:nvSpPr>
          <p:cNvPr id="8" name="Text 6"/>
          <p:cNvSpPr/>
          <p:nvPr/>
        </p:nvSpPr>
        <p:spPr>
          <a:xfrm>
            <a:off x="457200" y="1463040"/>
            <a:ext cx="1508760" cy="347472"/>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9" name="Text 7"/>
          <p:cNvSpPr/>
          <p:nvPr/>
        </p:nvSpPr>
        <p:spPr>
          <a:xfrm>
            <a:off x="457200" y="1901952"/>
            <a:ext cx="1508760" cy="457200"/>
          </a:xfrm>
          <a:prstGeom prst="rect">
            <a:avLst/>
          </a:prstGeom>
          <a:noFill/>
          <a:ln/>
        </p:spPr>
        <p:txBody>
          <a:bodyPr wrap="square" rtlCol="0" anchor="ctr"/>
          <a:lstStyle/>
          <a:p>
            <a:pPr marL="0" indent="0" algn="ctr">
              <a:buNone/>
            </a:pPr>
            <a:r>
              <a:rPr lang="en-US" sz="1400" b="1" dirty="0">
                <a:solidFill>
                  <a:srgbClr val="9B1C1C"/>
                </a:solidFill>
                <a:latin typeface="Georgia" pitchFamily="34" charset="0"/>
                <a:ea typeface="Georgia" pitchFamily="34" charset="-122"/>
                <a:cs typeface="Georgia" pitchFamily="34" charset="-120"/>
              </a:rPr>
              <a:t>Empathy</a:t>
            </a:r>
            <a:endParaRPr lang="en-US" sz="1400" dirty="0"/>
          </a:p>
        </p:txBody>
      </p:sp>
      <p:sp>
        <p:nvSpPr>
          <p:cNvPr id="10" name="Text 8"/>
          <p:cNvSpPr/>
          <p:nvPr/>
        </p:nvSpPr>
        <p:spPr>
          <a:xfrm>
            <a:off x="548640" y="2423160"/>
            <a:ext cx="1325880" cy="1417320"/>
          </a:xfrm>
          <a:prstGeom prst="rect">
            <a:avLst/>
          </a:prstGeom>
          <a:noFill/>
          <a:ln/>
        </p:spPr>
        <p:txBody>
          <a:bodyPr wrap="square"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Understand user needs &amp; pain points</a:t>
            </a:r>
            <a:endParaRPr lang="en-US" sz="1000" dirty="0"/>
          </a:p>
        </p:txBody>
      </p:sp>
      <p:sp>
        <p:nvSpPr>
          <p:cNvPr id="11" name="Shape 9"/>
          <p:cNvSpPr/>
          <p:nvPr/>
        </p:nvSpPr>
        <p:spPr>
          <a:xfrm>
            <a:off x="1965960" y="2743200"/>
            <a:ext cx="155448" cy="0"/>
          </a:xfrm>
          <a:prstGeom prst="line">
            <a:avLst/>
          </a:prstGeom>
          <a:noFill/>
          <a:ln w="19050">
            <a:solidFill>
              <a:srgbClr val="9AA3B0"/>
            </a:solidFill>
            <a:prstDash val="solid"/>
          </a:ln>
        </p:spPr>
        <p:txBody>
          <a:bodyPr/>
          <a:lstStyle/>
          <a:p>
            <a:endParaRPr lang="en-US"/>
          </a:p>
        </p:txBody>
      </p:sp>
      <p:sp>
        <p:nvSpPr>
          <p:cNvPr id="12" name="Shape 10"/>
          <p:cNvSpPr/>
          <p:nvPr/>
        </p:nvSpPr>
        <p:spPr>
          <a:xfrm>
            <a:off x="2121408" y="1463040"/>
            <a:ext cx="1508760" cy="2560320"/>
          </a:xfrm>
          <a:prstGeom prst="rect">
            <a:avLst/>
          </a:prstGeom>
          <a:solidFill>
            <a:srgbClr val="FEF2F2"/>
          </a:solidFill>
          <a:ln w="9525">
            <a:solidFill>
              <a:srgbClr val="E2E8F0"/>
            </a:solidFill>
            <a:prstDash val="solid"/>
          </a:ln>
        </p:spPr>
        <p:txBody>
          <a:bodyPr/>
          <a:lstStyle/>
          <a:p>
            <a:endParaRPr lang="en-US"/>
          </a:p>
        </p:txBody>
      </p:sp>
      <p:sp>
        <p:nvSpPr>
          <p:cNvPr id="13" name="Shape 11"/>
          <p:cNvSpPr/>
          <p:nvPr/>
        </p:nvSpPr>
        <p:spPr>
          <a:xfrm>
            <a:off x="2121408" y="1463040"/>
            <a:ext cx="1508760" cy="347472"/>
          </a:xfrm>
          <a:prstGeom prst="rect">
            <a:avLst/>
          </a:prstGeom>
          <a:solidFill>
            <a:srgbClr val="991B1B"/>
          </a:solidFill>
          <a:ln w="12700">
            <a:solidFill>
              <a:srgbClr val="991B1B"/>
            </a:solidFill>
            <a:prstDash val="solid"/>
          </a:ln>
        </p:spPr>
        <p:txBody>
          <a:bodyPr/>
          <a:lstStyle/>
          <a:p>
            <a:endParaRPr lang="en-US"/>
          </a:p>
        </p:txBody>
      </p:sp>
      <p:sp>
        <p:nvSpPr>
          <p:cNvPr id="14" name="Text 12"/>
          <p:cNvSpPr/>
          <p:nvPr/>
        </p:nvSpPr>
        <p:spPr>
          <a:xfrm>
            <a:off x="2121408" y="1463040"/>
            <a:ext cx="1508760" cy="347472"/>
          </a:xfrm>
          <a:prstGeom prst="rect">
            <a:avLst/>
          </a:prstGeom>
          <a:noFill/>
          <a:ln/>
        </p:spPr>
        <p:txBody>
          <a:bodyPr wrap="square" lIns="0" tIns="0" rIns="0" bIns="0" rtlCol="0" anchor="ctr"/>
          <a:lstStyle/>
          <a:p>
            <a:pPr marL="0" indent="0" algn="ctr">
              <a:buNone/>
            </a:pPr>
            <a:r>
              <a:rPr lang="en-US" sz="1100" b="1" dirty="0">
                <a:solidFill>
                  <a:srgbClr val="FFFFFF"/>
                </a:solidFill>
              </a:rPr>
              <a:t>02</a:t>
            </a:r>
            <a:endParaRPr lang="en-US" sz="1100" dirty="0"/>
          </a:p>
        </p:txBody>
      </p:sp>
      <p:sp>
        <p:nvSpPr>
          <p:cNvPr id="15" name="Text 13"/>
          <p:cNvSpPr/>
          <p:nvPr/>
        </p:nvSpPr>
        <p:spPr>
          <a:xfrm>
            <a:off x="2121408" y="1901952"/>
            <a:ext cx="1508760" cy="457200"/>
          </a:xfrm>
          <a:prstGeom prst="rect">
            <a:avLst/>
          </a:prstGeom>
          <a:noFill/>
          <a:ln/>
        </p:spPr>
        <p:txBody>
          <a:bodyPr wrap="square" rtlCol="0" anchor="ctr"/>
          <a:lstStyle/>
          <a:p>
            <a:pPr marL="0" indent="0" algn="ctr">
              <a:buNone/>
            </a:pPr>
            <a:r>
              <a:rPr lang="en-US" sz="1400" b="1" dirty="0">
                <a:solidFill>
                  <a:srgbClr val="991B1B"/>
                </a:solidFill>
                <a:latin typeface="Georgia" pitchFamily="34" charset="0"/>
                <a:ea typeface="Georgia" pitchFamily="34" charset="-122"/>
                <a:cs typeface="Georgia" pitchFamily="34" charset="-120"/>
              </a:rPr>
              <a:t>Problem</a:t>
            </a:r>
            <a:endParaRPr lang="en-US" sz="1400" dirty="0"/>
          </a:p>
        </p:txBody>
      </p:sp>
      <p:sp>
        <p:nvSpPr>
          <p:cNvPr id="16" name="Text 14"/>
          <p:cNvSpPr/>
          <p:nvPr/>
        </p:nvSpPr>
        <p:spPr>
          <a:xfrm>
            <a:off x="2212848" y="2423160"/>
            <a:ext cx="1325880" cy="1417320"/>
          </a:xfrm>
          <a:prstGeom prst="rect">
            <a:avLst/>
          </a:prstGeom>
          <a:noFill/>
          <a:ln/>
        </p:spPr>
        <p:txBody>
          <a:bodyPr wrap="square"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Define the core problem statement</a:t>
            </a:r>
            <a:endParaRPr lang="en-US" sz="1000" dirty="0"/>
          </a:p>
        </p:txBody>
      </p:sp>
      <p:sp>
        <p:nvSpPr>
          <p:cNvPr id="17" name="Shape 15"/>
          <p:cNvSpPr/>
          <p:nvPr/>
        </p:nvSpPr>
        <p:spPr>
          <a:xfrm>
            <a:off x="3630168" y="2743200"/>
            <a:ext cx="155448" cy="0"/>
          </a:xfrm>
          <a:prstGeom prst="line">
            <a:avLst/>
          </a:prstGeom>
          <a:noFill/>
          <a:ln w="19050">
            <a:solidFill>
              <a:srgbClr val="9AA3B0"/>
            </a:solidFill>
            <a:prstDash val="solid"/>
          </a:ln>
        </p:spPr>
        <p:txBody>
          <a:bodyPr/>
          <a:lstStyle/>
          <a:p>
            <a:endParaRPr lang="en-US"/>
          </a:p>
        </p:txBody>
      </p:sp>
      <p:sp>
        <p:nvSpPr>
          <p:cNvPr id="18" name="Shape 16"/>
          <p:cNvSpPr/>
          <p:nvPr/>
        </p:nvSpPr>
        <p:spPr>
          <a:xfrm>
            <a:off x="3785616" y="1463040"/>
            <a:ext cx="1508760" cy="2560320"/>
          </a:xfrm>
          <a:prstGeom prst="rect">
            <a:avLst/>
          </a:prstGeom>
          <a:solidFill>
            <a:srgbClr val="FEF2F2"/>
          </a:solidFill>
          <a:ln w="9525">
            <a:solidFill>
              <a:srgbClr val="E2E8F0"/>
            </a:solidFill>
            <a:prstDash val="solid"/>
          </a:ln>
        </p:spPr>
        <p:txBody>
          <a:bodyPr/>
          <a:lstStyle/>
          <a:p>
            <a:endParaRPr lang="en-US"/>
          </a:p>
        </p:txBody>
      </p:sp>
      <p:sp>
        <p:nvSpPr>
          <p:cNvPr id="19" name="Shape 17"/>
          <p:cNvSpPr/>
          <p:nvPr/>
        </p:nvSpPr>
        <p:spPr>
          <a:xfrm>
            <a:off x="3785616" y="1463040"/>
            <a:ext cx="1508760" cy="347472"/>
          </a:xfrm>
          <a:prstGeom prst="rect">
            <a:avLst/>
          </a:prstGeom>
          <a:solidFill>
            <a:srgbClr val="7F1D1D"/>
          </a:solidFill>
          <a:ln w="12700">
            <a:solidFill>
              <a:srgbClr val="7F1D1D"/>
            </a:solidFill>
            <a:prstDash val="solid"/>
          </a:ln>
        </p:spPr>
        <p:txBody>
          <a:bodyPr/>
          <a:lstStyle/>
          <a:p>
            <a:endParaRPr lang="en-US"/>
          </a:p>
        </p:txBody>
      </p:sp>
      <p:sp>
        <p:nvSpPr>
          <p:cNvPr id="20" name="Text 18"/>
          <p:cNvSpPr/>
          <p:nvPr/>
        </p:nvSpPr>
        <p:spPr>
          <a:xfrm>
            <a:off x="3785616" y="1463040"/>
            <a:ext cx="1508760" cy="347472"/>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21" name="Text 19"/>
          <p:cNvSpPr/>
          <p:nvPr/>
        </p:nvSpPr>
        <p:spPr>
          <a:xfrm>
            <a:off x="3785616" y="1901952"/>
            <a:ext cx="1508760" cy="457200"/>
          </a:xfrm>
          <a:prstGeom prst="rect">
            <a:avLst/>
          </a:prstGeom>
          <a:noFill/>
          <a:ln/>
        </p:spPr>
        <p:txBody>
          <a:bodyPr wrap="square" rtlCol="0" anchor="ctr"/>
          <a:lstStyle/>
          <a:p>
            <a:pPr marL="0" indent="0" algn="ctr">
              <a:buNone/>
            </a:pPr>
            <a:r>
              <a:rPr lang="en-US" sz="1400" b="1" dirty="0">
                <a:solidFill>
                  <a:srgbClr val="7F1D1D"/>
                </a:solidFill>
                <a:latin typeface="Georgia" pitchFamily="34" charset="0"/>
                <a:ea typeface="Georgia" pitchFamily="34" charset="-122"/>
                <a:cs typeface="Georgia" pitchFamily="34" charset="-120"/>
              </a:rPr>
              <a:t>Ideation</a:t>
            </a:r>
            <a:endParaRPr lang="en-US" sz="1400" dirty="0"/>
          </a:p>
        </p:txBody>
      </p:sp>
      <p:sp>
        <p:nvSpPr>
          <p:cNvPr id="22" name="Text 20"/>
          <p:cNvSpPr/>
          <p:nvPr/>
        </p:nvSpPr>
        <p:spPr>
          <a:xfrm>
            <a:off x="3877056" y="2423160"/>
            <a:ext cx="1325880" cy="1417320"/>
          </a:xfrm>
          <a:prstGeom prst="rect">
            <a:avLst/>
          </a:prstGeom>
          <a:noFill/>
          <a:ln/>
        </p:spPr>
        <p:txBody>
          <a:bodyPr wrap="square"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Brainstorm AI-powered solutions</a:t>
            </a:r>
            <a:endParaRPr lang="en-US" sz="1000" dirty="0"/>
          </a:p>
        </p:txBody>
      </p:sp>
      <p:sp>
        <p:nvSpPr>
          <p:cNvPr id="23" name="Shape 21"/>
          <p:cNvSpPr/>
          <p:nvPr/>
        </p:nvSpPr>
        <p:spPr>
          <a:xfrm>
            <a:off x="5294376" y="2743200"/>
            <a:ext cx="155448" cy="0"/>
          </a:xfrm>
          <a:prstGeom prst="line">
            <a:avLst/>
          </a:prstGeom>
          <a:noFill/>
          <a:ln w="19050">
            <a:solidFill>
              <a:srgbClr val="9AA3B0"/>
            </a:solidFill>
            <a:prstDash val="solid"/>
          </a:ln>
        </p:spPr>
        <p:txBody>
          <a:bodyPr/>
          <a:lstStyle/>
          <a:p>
            <a:endParaRPr lang="en-US"/>
          </a:p>
        </p:txBody>
      </p:sp>
      <p:sp>
        <p:nvSpPr>
          <p:cNvPr id="24" name="Shape 22"/>
          <p:cNvSpPr/>
          <p:nvPr/>
        </p:nvSpPr>
        <p:spPr>
          <a:xfrm>
            <a:off x="5449824" y="1463040"/>
            <a:ext cx="1508760" cy="2560320"/>
          </a:xfrm>
          <a:prstGeom prst="rect">
            <a:avLst/>
          </a:prstGeom>
          <a:solidFill>
            <a:srgbClr val="F0FFF4"/>
          </a:solidFill>
          <a:ln w="9525">
            <a:solidFill>
              <a:srgbClr val="E2E8F0"/>
            </a:solidFill>
            <a:prstDash val="solid"/>
          </a:ln>
        </p:spPr>
        <p:txBody>
          <a:bodyPr/>
          <a:lstStyle/>
          <a:p>
            <a:endParaRPr lang="en-US"/>
          </a:p>
        </p:txBody>
      </p:sp>
      <p:sp>
        <p:nvSpPr>
          <p:cNvPr id="25" name="Shape 23"/>
          <p:cNvSpPr/>
          <p:nvPr/>
        </p:nvSpPr>
        <p:spPr>
          <a:xfrm>
            <a:off x="5449824" y="1463040"/>
            <a:ext cx="1508760" cy="347472"/>
          </a:xfrm>
          <a:prstGeom prst="rect">
            <a:avLst/>
          </a:prstGeom>
          <a:solidFill>
            <a:srgbClr val="38A169"/>
          </a:solidFill>
          <a:ln w="12700">
            <a:solidFill>
              <a:srgbClr val="38A169"/>
            </a:solidFill>
            <a:prstDash val="solid"/>
          </a:ln>
        </p:spPr>
        <p:txBody>
          <a:bodyPr/>
          <a:lstStyle/>
          <a:p>
            <a:endParaRPr lang="en-US"/>
          </a:p>
        </p:txBody>
      </p:sp>
      <p:sp>
        <p:nvSpPr>
          <p:cNvPr id="26" name="Text 24"/>
          <p:cNvSpPr/>
          <p:nvPr/>
        </p:nvSpPr>
        <p:spPr>
          <a:xfrm>
            <a:off x="5449824" y="1463040"/>
            <a:ext cx="1508760" cy="347472"/>
          </a:xfrm>
          <a:prstGeom prst="rect">
            <a:avLst/>
          </a:prstGeom>
          <a:noFill/>
          <a:ln/>
        </p:spPr>
        <p:txBody>
          <a:bodyPr wrap="square" lIns="0" tIns="0" rIns="0" bIns="0" rtlCol="0" anchor="ctr"/>
          <a:lstStyle/>
          <a:p>
            <a:pPr marL="0" indent="0" algn="ctr">
              <a:buNone/>
            </a:pPr>
            <a:r>
              <a:rPr lang="en-US" sz="1100" b="1" dirty="0">
                <a:solidFill>
                  <a:srgbClr val="FFFFFF"/>
                </a:solidFill>
              </a:rPr>
              <a:t>04</a:t>
            </a:r>
            <a:endParaRPr lang="en-US" sz="1100" dirty="0"/>
          </a:p>
        </p:txBody>
      </p:sp>
      <p:sp>
        <p:nvSpPr>
          <p:cNvPr id="27" name="Text 25"/>
          <p:cNvSpPr/>
          <p:nvPr/>
        </p:nvSpPr>
        <p:spPr>
          <a:xfrm>
            <a:off x="5449824" y="1901952"/>
            <a:ext cx="1508760" cy="457200"/>
          </a:xfrm>
          <a:prstGeom prst="rect">
            <a:avLst/>
          </a:prstGeom>
          <a:noFill/>
          <a:ln/>
        </p:spPr>
        <p:txBody>
          <a:bodyPr wrap="square" rtlCol="0" anchor="ctr"/>
          <a:lstStyle/>
          <a:p>
            <a:pPr marL="0" indent="0" algn="ctr">
              <a:buNone/>
            </a:pPr>
            <a:r>
              <a:rPr lang="en-US" sz="1400" b="1" dirty="0">
                <a:solidFill>
                  <a:srgbClr val="38A169"/>
                </a:solidFill>
                <a:latin typeface="Georgia" pitchFamily="34" charset="0"/>
                <a:ea typeface="Georgia" pitchFamily="34" charset="-122"/>
                <a:cs typeface="Georgia" pitchFamily="34" charset="-120"/>
              </a:rPr>
              <a:t>Prototype</a:t>
            </a:r>
            <a:endParaRPr lang="en-US" sz="1400" dirty="0"/>
          </a:p>
        </p:txBody>
      </p:sp>
      <p:sp>
        <p:nvSpPr>
          <p:cNvPr id="28" name="Text 26"/>
          <p:cNvSpPr/>
          <p:nvPr/>
        </p:nvSpPr>
        <p:spPr>
          <a:xfrm>
            <a:off x="5541264" y="2423160"/>
            <a:ext cx="1325880" cy="1417320"/>
          </a:xfrm>
          <a:prstGeom prst="rect">
            <a:avLst/>
          </a:prstGeom>
          <a:noFill/>
          <a:ln/>
        </p:spPr>
        <p:txBody>
          <a:bodyPr wrap="square"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Build A-iButler chatbot</a:t>
            </a:r>
            <a:endParaRPr lang="en-US" sz="1000" dirty="0"/>
          </a:p>
        </p:txBody>
      </p:sp>
      <p:sp>
        <p:nvSpPr>
          <p:cNvPr id="29" name="Shape 27"/>
          <p:cNvSpPr/>
          <p:nvPr/>
        </p:nvSpPr>
        <p:spPr>
          <a:xfrm>
            <a:off x="6958584" y="2743200"/>
            <a:ext cx="155448" cy="0"/>
          </a:xfrm>
          <a:prstGeom prst="line">
            <a:avLst/>
          </a:prstGeom>
          <a:noFill/>
          <a:ln w="19050">
            <a:solidFill>
              <a:srgbClr val="9AA3B0"/>
            </a:solidFill>
            <a:prstDash val="solid"/>
          </a:ln>
        </p:spPr>
        <p:txBody>
          <a:bodyPr/>
          <a:lstStyle/>
          <a:p>
            <a:endParaRPr lang="en-US"/>
          </a:p>
        </p:txBody>
      </p:sp>
      <p:sp>
        <p:nvSpPr>
          <p:cNvPr id="30" name="Shape 28"/>
          <p:cNvSpPr/>
          <p:nvPr/>
        </p:nvSpPr>
        <p:spPr>
          <a:xfrm>
            <a:off x="7114032" y="1463040"/>
            <a:ext cx="1508760" cy="2560320"/>
          </a:xfrm>
          <a:prstGeom prst="rect">
            <a:avLst/>
          </a:prstGeom>
          <a:solidFill>
            <a:srgbClr val="FFFBEB"/>
          </a:solidFill>
          <a:ln w="9525">
            <a:solidFill>
              <a:srgbClr val="E2E8F0"/>
            </a:solidFill>
            <a:prstDash val="solid"/>
          </a:ln>
        </p:spPr>
        <p:txBody>
          <a:bodyPr/>
          <a:lstStyle/>
          <a:p>
            <a:endParaRPr lang="en-US"/>
          </a:p>
        </p:txBody>
      </p:sp>
      <p:sp>
        <p:nvSpPr>
          <p:cNvPr id="31" name="Shape 29"/>
          <p:cNvSpPr/>
          <p:nvPr/>
        </p:nvSpPr>
        <p:spPr>
          <a:xfrm>
            <a:off x="7114032" y="1463040"/>
            <a:ext cx="1508760" cy="347472"/>
          </a:xfrm>
          <a:prstGeom prst="rect">
            <a:avLst/>
          </a:prstGeom>
          <a:solidFill>
            <a:srgbClr val="D97706"/>
          </a:solidFill>
          <a:ln w="12700">
            <a:solidFill>
              <a:srgbClr val="D97706"/>
            </a:solidFill>
            <a:prstDash val="solid"/>
          </a:ln>
        </p:spPr>
        <p:txBody>
          <a:bodyPr/>
          <a:lstStyle/>
          <a:p>
            <a:endParaRPr lang="en-US"/>
          </a:p>
        </p:txBody>
      </p:sp>
      <p:sp>
        <p:nvSpPr>
          <p:cNvPr id="32" name="Text 30"/>
          <p:cNvSpPr/>
          <p:nvPr/>
        </p:nvSpPr>
        <p:spPr>
          <a:xfrm>
            <a:off x="7114032" y="1463040"/>
            <a:ext cx="1508760" cy="347472"/>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33" name="Text 31"/>
          <p:cNvSpPr/>
          <p:nvPr/>
        </p:nvSpPr>
        <p:spPr>
          <a:xfrm>
            <a:off x="7114032" y="1901952"/>
            <a:ext cx="1508760" cy="457200"/>
          </a:xfrm>
          <a:prstGeom prst="rect">
            <a:avLst/>
          </a:prstGeom>
          <a:noFill/>
          <a:ln/>
        </p:spPr>
        <p:txBody>
          <a:bodyPr wrap="square" rtlCol="0" anchor="ctr"/>
          <a:lstStyle/>
          <a:p>
            <a:pPr marL="0" indent="0" algn="ctr">
              <a:buNone/>
            </a:pPr>
            <a:r>
              <a:rPr lang="en-US" sz="1400" b="1" dirty="0">
                <a:solidFill>
                  <a:srgbClr val="D97706"/>
                </a:solidFill>
                <a:latin typeface="Georgia" pitchFamily="34" charset="0"/>
                <a:ea typeface="Georgia" pitchFamily="34" charset="-122"/>
                <a:cs typeface="Georgia" pitchFamily="34" charset="-120"/>
              </a:rPr>
              <a:t>Test</a:t>
            </a:r>
            <a:endParaRPr lang="en-US" sz="1400" dirty="0"/>
          </a:p>
        </p:txBody>
      </p:sp>
      <p:sp>
        <p:nvSpPr>
          <p:cNvPr id="34" name="Text 32"/>
          <p:cNvSpPr/>
          <p:nvPr/>
        </p:nvSpPr>
        <p:spPr>
          <a:xfrm>
            <a:off x="7205472" y="2423160"/>
            <a:ext cx="1325880" cy="1417320"/>
          </a:xfrm>
          <a:prstGeom prst="rect">
            <a:avLst/>
          </a:prstGeom>
          <a:noFill/>
          <a:ln/>
        </p:spPr>
        <p:txBody>
          <a:bodyPr wrap="square"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Validate with 10 test scenarios</a:t>
            </a:r>
            <a:endParaRPr lang="en-US" sz="1000" dirty="0"/>
          </a:p>
        </p:txBody>
      </p:sp>
      <p:sp>
        <p:nvSpPr>
          <p:cNvPr id="35" name="Text 33"/>
          <p:cNvSpPr/>
          <p:nvPr/>
        </p:nvSpPr>
        <p:spPr>
          <a:xfrm>
            <a:off x="457200" y="4160520"/>
            <a:ext cx="8229600" cy="438912"/>
          </a:xfrm>
          <a:prstGeom prst="rect">
            <a:avLst/>
          </a:prstGeom>
          <a:noFill/>
          <a:ln/>
        </p:spPr>
        <p:txBody>
          <a:bodyPr wrap="square" rtlCol="0" anchor="ctr"/>
          <a:lstStyle/>
          <a:p>
            <a:pPr marL="0" indent="0" algn="ctr">
              <a:buNone/>
            </a:pPr>
            <a:r>
              <a:rPr lang="en-US" sz="950" i="1" dirty="0">
                <a:solidFill>
                  <a:srgbClr val="9AA3B0"/>
                </a:solidFill>
                <a:latin typeface="Calibri" pitchFamily="34" charset="0"/>
                <a:ea typeface="Calibri" pitchFamily="34" charset="-122"/>
                <a:cs typeface="Calibri" pitchFamily="34" charset="-120"/>
              </a:rPr>
              <a:t>Design Thinking is an iterative, human-centered approach to problem-solving (IDEO, 2015). In AI/ML, it ensures solutions are built around real user needs before technical implementation begins.</a:t>
            </a:r>
            <a:endParaRPr lang="en-US" sz="950" dirty="0"/>
          </a:p>
        </p:txBody>
      </p:sp>
      <p:sp>
        <p:nvSpPr>
          <p:cNvPr id="36" name="Shape 34"/>
          <p:cNvSpPr/>
          <p:nvPr/>
        </p:nvSpPr>
        <p:spPr>
          <a:xfrm>
            <a:off x="457200" y="4736592"/>
            <a:ext cx="8229600" cy="0"/>
          </a:xfrm>
          <a:prstGeom prst="line">
            <a:avLst/>
          </a:prstGeom>
          <a:noFill/>
          <a:ln w="12700">
            <a:solidFill>
              <a:srgbClr val="E2E8F0"/>
            </a:solidFill>
            <a:prstDash val="solid"/>
          </a:ln>
        </p:spPr>
        <p:txBody>
          <a:bodyPr/>
          <a:lstStyle/>
          <a:p>
            <a:endParaRPr lang="en-US"/>
          </a:p>
        </p:txBody>
      </p:sp>
      <p:sp>
        <p:nvSpPr>
          <p:cNvPr id="38" name="Text 36"/>
          <p:cNvSpPr/>
          <p:nvPr/>
        </p:nvSpPr>
        <p:spPr>
          <a:xfrm>
            <a:off x="8503920" y="4773168"/>
            <a:ext cx="411480" cy="228600"/>
          </a:xfrm>
          <a:prstGeom prst="rect">
            <a:avLst/>
          </a:prstGeom>
          <a:noFill/>
          <a:ln/>
        </p:spPr>
        <p:txBody>
          <a:bodyPr wrap="square" rtlCol="0" anchor="ctr"/>
          <a:lstStyle/>
          <a:p>
            <a:pPr marL="0" indent="0" algn="r">
              <a:buNone/>
            </a:pPr>
            <a:r>
              <a:rPr lang="en-US" sz="900" dirty="0">
                <a:solidFill>
                  <a:srgbClr val="9AA3B0"/>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246888"/>
          </a:xfrm>
          <a:prstGeom prst="roundRect">
            <a:avLst>
              <a:gd name="adj" fmla="val 22222"/>
            </a:avLst>
          </a:prstGeom>
          <a:solidFill>
            <a:srgbClr val="FEF2F2"/>
          </a:solidFill>
          <a:ln w="6350">
            <a:solidFill>
              <a:srgbClr val="F87171"/>
            </a:solidFill>
            <a:prstDash val="solid"/>
          </a:ln>
        </p:spPr>
        <p:txBody>
          <a:bodyPr/>
          <a:lstStyle/>
          <a:p>
            <a:endParaRPr lang="en-US"/>
          </a:p>
        </p:txBody>
      </p:sp>
      <p:sp>
        <p:nvSpPr>
          <p:cNvPr id="3" name="Text 1"/>
          <p:cNvSpPr/>
          <p:nvPr/>
        </p:nvSpPr>
        <p:spPr>
          <a:xfrm>
            <a:off x="457200" y="274320"/>
            <a:ext cx="1371600" cy="246888"/>
          </a:xfrm>
          <a:prstGeom prst="rect">
            <a:avLst/>
          </a:prstGeom>
          <a:noFill/>
          <a:ln/>
        </p:spPr>
        <p:txBody>
          <a:bodyPr wrap="square" lIns="0" tIns="0" rIns="0" bIns="0" rtlCol="0" anchor="ctr"/>
          <a:lstStyle/>
          <a:p>
            <a:pPr marL="0" indent="0" algn="ctr">
              <a:buNone/>
            </a:pPr>
            <a:r>
              <a:rPr lang="en-US" sz="750" b="1" dirty="0">
                <a:solidFill>
                  <a:srgbClr val="9B1C1C"/>
                </a:solidFill>
              </a:rPr>
              <a:t>PHASE 1</a:t>
            </a:r>
            <a:endParaRPr lang="en-US" sz="750" dirty="0"/>
          </a:p>
        </p:txBody>
      </p:sp>
      <p:sp>
        <p:nvSpPr>
          <p:cNvPr id="4" name="Text 2"/>
          <p:cNvSpPr/>
          <p:nvPr/>
        </p:nvSpPr>
        <p:spPr>
          <a:xfrm>
            <a:off x="457200" y="621792"/>
            <a:ext cx="8229600" cy="658368"/>
          </a:xfrm>
          <a:prstGeom prst="rect">
            <a:avLst/>
          </a:prstGeom>
          <a:noFill/>
          <a:ln/>
        </p:spPr>
        <p:txBody>
          <a:bodyPr wrap="square" rtlCol="0" anchor="ctr"/>
          <a:lstStyle/>
          <a:p>
            <a:pPr marL="0" indent="0" algn="l">
              <a:buNone/>
            </a:pPr>
            <a:r>
              <a:rPr lang="en-US" sz="3200" b="1" dirty="0">
                <a:solidFill>
                  <a:srgbClr val="1A202C"/>
                </a:solidFill>
                <a:latin typeface="Georgia" pitchFamily="34" charset="0"/>
                <a:ea typeface="Georgia" pitchFamily="34" charset="-122"/>
                <a:cs typeface="Georgia" pitchFamily="34" charset="-120"/>
              </a:rPr>
              <a:t>Empathy — Understanding the User</a:t>
            </a:r>
            <a:endParaRPr lang="en-US" sz="3200" dirty="0"/>
          </a:p>
        </p:txBody>
      </p:sp>
      <p:sp>
        <p:nvSpPr>
          <p:cNvPr id="5" name="Shape 3"/>
          <p:cNvSpPr/>
          <p:nvPr/>
        </p:nvSpPr>
        <p:spPr>
          <a:xfrm>
            <a:off x="457200" y="1325880"/>
            <a:ext cx="8229600" cy="0"/>
          </a:xfrm>
          <a:prstGeom prst="line">
            <a:avLst/>
          </a:prstGeom>
          <a:noFill/>
          <a:ln w="12700">
            <a:solidFill>
              <a:srgbClr val="E2E8F0"/>
            </a:solidFill>
            <a:prstDash val="solid"/>
          </a:ln>
        </p:spPr>
        <p:txBody>
          <a:bodyPr/>
          <a:lstStyle/>
          <a:p>
            <a:endParaRPr lang="en-US"/>
          </a:p>
        </p:txBody>
      </p:sp>
      <p:sp>
        <p:nvSpPr>
          <p:cNvPr id="6" name="Shape 4"/>
          <p:cNvSpPr/>
          <p:nvPr/>
        </p:nvSpPr>
        <p:spPr>
          <a:xfrm>
            <a:off x="457200" y="1444752"/>
            <a:ext cx="3931920" cy="3154680"/>
          </a:xfrm>
          <a:prstGeom prst="rect">
            <a:avLst/>
          </a:prstGeom>
          <a:solidFill>
            <a:srgbClr val="F8F9FA"/>
          </a:solidFill>
          <a:ln w="9525">
            <a:solidFill>
              <a:srgbClr val="E2E8F0"/>
            </a:solidFill>
            <a:prstDash val="solid"/>
          </a:ln>
        </p:spPr>
        <p:txBody>
          <a:bodyPr/>
          <a:lstStyle/>
          <a:p>
            <a:endParaRPr lang="en-US"/>
          </a:p>
        </p:txBody>
      </p:sp>
      <p:sp>
        <p:nvSpPr>
          <p:cNvPr id="7" name="Shape 5"/>
          <p:cNvSpPr/>
          <p:nvPr/>
        </p:nvSpPr>
        <p:spPr>
          <a:xfrm>
            <a:off x="457200" y="1444752"/>
            <a:ext cx="3931920" cy="347472"/>
          </a:xfrm>
          <a:prstGeom prst="rect">
            <a:avLst/>
          </a:prstGeom>
          <a:solidFill>
            <a:srgbClr val="9B1C1C"/>
          </a:solidFill>
          <a:ln w="12700">
            <a:solidFill>
              <a:srgbClr val="9B1C1C"/>
            </a:solidFill>
            <a:prstDash val="solid"/>
          </a:ln>
        </p:spPr>
        <p:txBody>
          <a:bodyPr/>
          <a:lstStyle/>
          <a:p>
            <a:endParaRPr lang="en-US"/>
          </a:p>
        </p:txBody>
      </p:sp>
      <p:sp>
        <p:nvSpPr>
          <p:cNvPr id="8" name="Text 6"/>
          <p:cNvSpPr/>
          <p:nvPr/>
        </p:nvSpPr>
        <p:spPr>
          <a:xfrm>
            <a:off x="457200" y="1444752"/>
            <a:ext cx="39319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User Pain Points</a:t>
            </a:r>
            <a:endParaRPr lang="en-US" sz="1100" dirty="0"/>
          </a:p>
        </p:txBody>
      </p:sp>
      <p:sp>
        <p:nvSpPr>
          <p:cNvPr id="9" name="Text 7"/>
          <p:cNvSpPr/>
          <p:nvPr/>
        </p:nvSpPr>
        <p:spPr>
          <a:xfrm>
            <a:off x="621792" y="1901952"/>
            <a:ext cx="3602736" cy="2606040"/>
          </a:xfrm>
          <a:prstGeom prst="rect">
            <a:avLst/>
          </a:prstGeom>
          <a:noFill/>
          <a:ln/>
        </p:spPr>
        <p:txBody>
          <a:bodyPr wrap="square" rtlCol="0" anchor="ctr"/>
          <a:lstStyle/>
          <a:p>
            <a:pPr marL="342900" indent="-342900">
              <a:spcAft>
                <a:spcPts val="700"/>
              </a:spcAft>
              <a:buSzPct val="100000"/>
              <a:buChar char="•"/>
            </a:pPr>
            <a:r>
              <a:rPr lang="en-US" sz="1200" dirty="0">
                <a:solidFill>
                  <a:srgbClr val="4A5568"/>
                </a:solidFill>
                <a:latin typeface="Calibri" pitchFamily="34" charset="0"/>
                <a:ea typeface="Calibri" pitchFamily="34" charset="-122"/>
                <a:cs typeface="Calibri" pitchFamily="34" charset="-120"/>
              </a:rPr>
              <a:t>Cannot describe symptoms in technical terms</a:t>
            </a:r>
            <a:endParaRPr lang="en-US" sz="1200" dirty="0"/>
          </a:p>
          <a:p>
            <a:pPr marL="342900" indent="-342900">
              <a:spcAft>
                <a:spcPts val="700"/>
              </a:spcAft>
              <a:buSzPct val="100000"/>
              <a:buChar char="•"/>
            </a:pPr>
            <a:r>
              <a:rPr lang="en-US" sz="1200" dirty="0">
                <a:solidFill>
                  <a:srgbClr val="4A5568"/>
                </a:solidFill>
                <a:latin typeface="Calibri" pitchFamily="34" charset="0"/>
                <a:ea typeface="Calibri" pitchFamily="34" charset="-122"/>
                <a:cs typeface="Calibri" pitchFamily="34" charset="-120"/>
              </a:rPr>
              <a:t>Uncertainty about urgency: dangerous or can it wait?</a:t>
            </a:r>
            <a:endParaRPr lang="en-US" sz="1200" dirty="0"/>
          </a:p>
          <a:p>
            <a:pPr marL="342900" indent="-342900">
              <a:spcAft>
                <a:spcPts val="700"/>
              </a:spcAft>
              <a:buSzPct val="100000"/>
              <a:buChar char="•"/>
            </a:pPr>
            <a:r>
              <a:rPr lang="en-US" sz="1200" dirty="0">
                <a:solidFill>
                  <a:srgbClr val="4A5568"/>
                </a:solidFill>
                <a:latin typeface="Calibri" pitchFamily="34" charset="0"/>
                <a:ea typeface="Calibri" pitchFamily="34" charset="-122"/>
                <a:cs typeface="Calibri" pitchFamily="34" charset="-120"/>
              </a:rPr>
              <a:t>Mechanics dismiss vague descriptions</a:t>
            </a:r>
            <a:endParaRPr lang="en-US" sz="1200" dirty="0"/>
          </a:p>
          <a:p>
            <a:pPr marL="342900" indent="-342900">
              <a:spcAft>
                <a:spcPts val="700"/>
              </a:spcAft>
              <a:buSzPct val="100000"/>
              <a:buChar char="•"/>
            </a:pPr>
            <a:r>
              <a:rPr lang="en-US" sz="1200" dirty="0">
                <a:solidFill>
                  <a:srgbClr val="4A5568"/>
                </a:solidFill>
                <a:latin typeface="Calibri" pitchFamily="34" charset="0"/>
                <a:ea typeface="Calibri" pitchFamily="34" charset="-122"/>
                <a:cs typeface="Calibri" pitchFamily="34" charset="-120"/>
              </a:rPr>
              <a:t>Online searches return generic, overwhelming results</a:t>
            </a:r>
            <a:endParaRPr lang="en-US" sz="1200" dirty="0"/>
          </a:p>
          <a:p>
            <a:pPr marL="342900" indent="-342900">
              <a:spcAft>
                <a:spcPts val="700"/>
              </a:spcAft>
              <a:buSzPct val="100000"/>
              <a:buChar char="•"/>
            </a:pPr>
            <a:r>
              <a:rPr lang="en-US" sz="1200" dirty="0">
                <a:solidFill>
                  <a:srgbClr val="4A5568"/>
                </a:solidFill>
                <a:latin typeface="Calibri" pitchFamily="34" charset="0"/>
                <a:ea typeface="Calibri" pitchFamily="34" charset="-122"/>
                <a:cs typeface="Calibri" pitchFamily="34" charset="-120"/>
              </a:rPr>
              <a:t>Fear of being overcharged for misdiagnosed issues</a:t>
            </a:r>
            <a:endParaRPr lang="en-US" sz="1200" dirty="0"/>
          </a:p>
        </p:txBody>
      </p:sp>
      <p:sp>
        <p:nvSpPr>
          <p:cNvPr id="10" name="Shape 8"/>
          <p:cNvSpPr/>
          <p:nvPr/>
        </p:nvSpPr>
        <p:spPr>
          <a:xfrm>
            <a:off x="4754880" y="1444752"/>
            <a:ext cx="3931920" cy="3154680"/>
          </a:xfrm>
          <a:prstGeom prst="rect">
            <a:avLst/>
          </a:prstGeom>
          <a:solidFill>
            <a:srgbClr val="F8F9FA"/>
          </a:solidFill>
          <a:ln w="9525">
            <a:solidFill>
              <a:srgbClr val="E2E8F0"/>
            </a:solidFill>
            <a:prstDash val="solid"/>
          </a:ln>
        </p:spPr>
        <p:txBody>
          <a:bodyPr/>
          <a:lstStyle/>
          <a:p>
            <a:endParaRPr lang="en-US"/>
          </a:p>
        </p:txBody>
      </p:sp>
      <p:sp>
        <p:nvSpPr>
          <p:cNvPr id="11" name="Shape 9"/>
          <p:cNvSpPr/>
          <p:nvPr/>
        </p:nvSpPr>
        <p:spPr>
          <a:xfrm>
            <a:off x="4754880" y="1444752"/>
            <a:ext cx="3931920" cy="347472"/>
          </a:xfrm>
          <a:prstGeom prst="rect">
            <a:avLst/>
          </a:prstGeom>
          <a:solidFill>
            <a:srgbClr val="4A5568"/>
          </a:solidFill>
          <a:ln w="12700">
            <a:solidFill>
              <a:srgbClr val="4A5568"/>
            </a:solidFill>
            <a:prstDash val="solid"/>
          </a:ln>
        </p:spPr>
        <p:txBody>
          <a:bodyPr/>
          <a:lstStyle/>
          <a:p>
            <a:endParaRPr lang="en-US"/>
          </a:p>
        </p:txBody>
      </p:sp>
      <p:sp>
        <p:nvSpPr>
          <p:cNvPr id="12" name="Text 10"/>
          <p:cNvSpPr/>
          <p:nvPr/>
        </p:nvSpPr>
        <p:spPr>
          <a:xfrm>
            <a:off x="4754880" y="1444752"/>
            <a:ext cx="39319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User Persona</a:t>
            </a:r>
            <a:endParaRPr lang="en-US" sz="1100" dirty="0"/>
          </a:p>
        </p:txBody>
      </p:sp>
      <p:sp>
        <p:nvSpPr>
          <p:cNvPr id="13" name="Shape 11"/>
          <p:cNvSpPr/>
          <p:nvPr/>
        </p:nvSpPr>
        <p:spPr>
          <a:xfrm>
            <a:off x="5943600" y="1874520"/>
            <a:ext cx="1097280" cy="1097280"/>
          </a:xfrm>
          <a:prstGeom prst="ellipse">
            <a:avLst/>
          </a:prstGeom>
          <a:solidFill>
            <a:srgbClr val="FEF2F2"/>
          </a:solidFill>
          <a:ln w="19050">
            <a:solidFill>
              <a:srgbClr val="F87171"/>
            </a:solidFill>
            <a:prstDash val="solid"/>
          </a:ln>
        </p:spPr>
        <p:txBody>
          <a:bodyPr/>
          <a:lstStyle/>
          <a:p>
            <a:endParaRPr lang="en-US"/>
          </a:p>
        </p:txBody>
      </p:sp>
      <p:sp>
        <p:nvSpPr>
          <p:cNvPr id="14" name="Text 12"/>
          <p:cNvSpPr/>
          <p:nvPr/>
        </p:nvSpPr>
        <p:spPr>
          <a:xfrm>
            <a:off x="5943600" y="1874520"/>
            <a:ext cx="1097280" cy="1097280"/>
          </a:xfrm>
          <a:prstGeom prst="rect">
            <a:avLst/>
          </a:prstGeom>
          <a:noFill/>
          <a:ln/>
        </p:spPr>
        <p:txBody>
          <a:bodyPr wrap="square" rtlCol="0" anchor="ctr"/>
          <a:lstStyle/>
          <a:p>
            <a:pPr marL="0" indent="0" algn="ctr">
              <a:buNone/>
            </a:pPr>
            <a:r>
              <a:rPr lang="en-US" sz="1300" b="1" dirty="0">
                <a:solidFill>
                  <a:srgbClr val="9B1C1C"/>
                </a:solidFill>
              </a:rPr>
              <a:t>Alex</a:t>
            </a:r>
            <a:endParaRPr lang="en-US" sz="1300" dirty="0"/>
          </a:p>
          <a:p>
            <a:pPr marL="0" indent="0" algn="ctr">
              <a:buNone/>
            </a:pPr>
            <a:r>
              <a:rPr lang="en-US" sz="1300" b="1" dirty="0">
                <a:solidFill>
                  <a:srgbClr val="9B1C1C"/>
                </a:solidFill>
              </a:rPr>
              <a:t>34</a:t>
            </a:r>
            <a:endParaRPr lang="en-US" sz="1300" dirty="0"/>
          </a:p>
        </p:txBody>
      </p:sp>
      <p:sp>
        <p:nvSpPr>
          <p:cNvPr id="15" name="Text 13"/>
          <p:cNvSpPr/>
          <p:nvPr/>
        </p:nvSpPr>
        <p:spPr>
          <a:xfrm>
            <a:off x="4846320" y="3063240"/>
            <a:ext cx="3749040" cy="274320"/>
          </a:xfrm>
          <a:prstGeom prst="rect">
            <a:avLst/>
          </a:prstGeom>
          <a:noFill/>
          <a:ln/>
        </p:spPr>
        <p:txBody>
          <a:bodyPr wrap="square" rtlCol="0" anchor="ctr"/>
          <a:lstStyle/>
          <a:p>
            <a:pPr marL="0" indent="0" algn="ctr">
              <a:buNone/>
            </a:pPr>
            <a:r>
              <a:rPr lang="en-US" sz="1000" i="1" dirty="0">
                <a:solidFill>
                  <a:srgbClr val="9AA3B0"/>
                </a:solidFill>
              </a:rPr>
              <a:t>Everyday Driver</a:t>
            </a:r>
            <a:endParaRPr lang="en-US" sz="1000" dirty="0"/>
          </a:p>
        </p:txBody>
      </p:sp>
      <p:sp>
        <p:nvSpPr>
          <p:cNvPr id="16" name="Shape 14"/>
          <p:cNvSpPr/>
          <p:nvPr/>
        </p:nvSpPr>
        <p:spPr>
          <a:xfrm>
            <a:off x="4800600" y="3401568"/>
            <a:ext cx="3840480" cy="804672"/>
          </a:xfrm>
          <a:prstGeom prst="rect">
            <a:avLst/>
          </a:prstGeom>
          <a:solidFill>
            <a:srgbClr val="FFFFFF"/>
          </a:solidFill>
          <a:ln w="9525">
            <a:solidFill>
              <a:srgbClr val="E2E8F0"/>
            </a:solidFill>
            <a:prstDash val="solid"/>
          </a:ln>
        </p:spPr>
        <p:txBody>
          <a:bodyPr/>
          <a:lstStyle/>
          <a:p>
            <a:endParaRPr lang="en-US"/>
          </a:p>
        </p:txBody>
      </p:sp>
      <p:sp>
        <p:nvSpPr>
          <p:cNvPr id="17" name="Shape 15"/>
          <p:cNvSpPr/>
          <p:nvPr/>
        </p:nvSpPr>
        <p:spPr>
          <a:xfrm>
            <a:off x="4800600" y="3401568"/>
            <a:ext cx="54864" cy="804672"/>
          </a:xfrm>
          <a:prstGeom prst="rect">
            <a:avLst/>
          </a:prstGeom>
          <a:solidFill>
            <a:srgbClr val="9B1C1C"/>
          </a:solidFill>
          <a:ln w="12700">
            <a:solidFill>
              <a:srgbClr val="9B1C1C"/>
            </a:solidFill>
            <a:prstDash val="solid"/>
          </a:ln>
        </p:spPr>
        <p:txBody>
          <a:bodyPr/>
          <a:lstStyle/>
          <a:p>
            <a:endParaRPr lang="en-US"/>
          </a:p>
        </p:txBody>
      </p:sp>
      <p:sp>
        <p:nvSpPr>
          <p:cNvPr id="18" name="Text 16"/>
          <p:cNvSpPr/>
          <p:nvPr/>
        </p:nvSpPr>
        <p:spPr>
          <a:xfrm>
            <a:off x="4937760" y="3438144"/>
            <a:ext cx="3611880" cy="731520"/>
          </a:xfrm>
          <a:prstGeom prst="rect">
            <a:avLst/>
          </a:prstGeom>
          <a:noFill/>
          <a:ln/>
        </p:spPr>
        <p:txBody>
          <a:bodyPr wrap="square" rtlCol="0" anchor="ctr"/>
          <a:lstStyle/>
          <a:p>
            <a:pPr marL="0" indent="0">
              <a:buNone/>
            </a:pPr>
            <a:r>
              <a:rPr lang="en-US" sz="1000" i="1" dirty="0">
                <a:solidFill>
                  <a:srgbClr val="4A5568"/>
                </a:solidFill>
                <a:latin typeface="Calibri" pitchFamily="34" charset="0"/>
                <a:ea typeface="Calibri" pitchFamily="34" charset="-122"/>
                <a:cs typeface="Calibri" pitchFamily="34" charset="-120"/>
              </a:rPr>
              <a:t>"My check engine light is on. I have no idea if I should pull over or keep driving."</a:t>
            </a:r>
            <a:endParaRPr lang="en-US" sz="1000" dirty="0"/>
          </a:p>
        </p:txBody>
      </p:sp>
      <p:sp>
        <p:nvSpPr>
          <p:cNvPr id="19" name="Shape 17"/>
          <p:cNvSpPr/>
          <p:nvPr/>
        </p:nvSpPr>
        <p:spPr>
          <a:xfrm>
            <a:off x="457200" y="4736592"/>
            <a:ext cx="8229600" cy="0"/>
          </a:xfrm>
          <a:prstGeom prst="line">
            <a:avLst/>
          </a:prstGeom>
          <a:noFill/>
          <a:ln w="12700">
            <a:solidFill>
              <a:srgbClr val="E2E8F0"/>
            </a:solidFill>
            <a:prstDash val="solid"/>
          </a:ln>
        </p:spPr>
        <p:txBody>
          <a:bodyPr/>
          <a:lstStyle/>
          <a:p>
            <a:endParaRPr lang="en-US"/>
          </a:p>
        </p:txBody>
      </p:sp>
      <p:sp>
        <p:nvSpPr>
          <p:cNvPr id="21" name="Text 19"/>
          <p:cNvSpPr/>
          <p:nvPr/>
        </p:nvSpPr>
        <p:spPr>
          <a:xfrm>
            <a:off x="8503920" y="4773168"/>
            <a:ext cx="411480" cy="228600"/>
          </a:xfrm>
          <a:prstGeom prst="rect">
            <a:avLst/>
          </a:prstGeom>
          <a:noFill/>
          <a:ln/>
        </p:spPr>
        <p:txBody>
          <a:bodyPr wrap="square" rtlCol="0" anchor="ctr"/>
          <a:lstStyle/>
          <a:p>
            <a:pPr marL="0" indent="0" algn="r">
              <a:buNone/>
            </a:pPr>
            <a:r>
              <a:rPr lang="en-US" sz="900" dirty="0">
                <a:solidFill>
                  <a:srgbClr val="9AA3B0"/>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246888"/>
          </a:xfrm>
          <a:prstGeom prst="roundRect">
            <a:avLst>
              <a:gd name="adj" fmla="val 22222"/>
            </a:avLst>
          </a:prstGeom>
          <a:solidFill>
            <a:srgbClr val="FEF2F2"/>
          </a:solidFill>
          <a:ln w="6350">
            <a:solidFill>
              <a:srgbClr val="F87171"/>
            </a:solidFill>
            <a:prstDash val="solid"/>
          </a:ln>
        </p:spPr>
        <p:txBody>
          <a:bodyPr/>
          <a:lstStyle/>
          <a:p>
            <a:endParaRPr lang="en-US"/>
          </a:p>
        </p:txBody>
      </p:sp>
      <p:sp>
        <p:nvSpPr>
          <p:cNvPr id="3" name="Text 1"/>
          <p:cNvSpPr/>
          <p:nvPr/>
        </p:nvSpPr>
        <p:spPr>
          <a:xfrm>
            <a:off x="457200" y="274320"/>
            <a:ext cx="1371600" cy="246888"/>
          </a:xfrm>
          <a:prstGeom prst="rect">
            <a:avLst/>
          </a:prstGeom>
          <a:noFill/>
          <a:ln/>
        </p:spPr>
        <p:txBody>
          <a:bodyPr wrap="square" lIns="0" tIns="0" rIns="0" bIns="0" rtlCol="0" anchor="ctr"/>
          <a:lstStyle/>
          <a:p>
            <a:pPr marL="0" indent="0" algn="ctr">
              <a:buNone/>
            </a:pPr>
            <a:r>
              <a:rPr lang="en-US" sz="750" b="1" dirty="0">
                <a:solidFill>
                  <a:srgbClr val="9B1C1C"/>
                </a:solidFill>
              </a:rPr>
              <a:t>PHASE 2</a:t>
            </a:r>
            <a:endParaRPr lang="en-US" sz="750" dirty="0"/>
          </a:p>
        </p:txBody>
      </p:sp>
      <p:sp>
        <p:nvSpPr>
          <p:cNvPr id="4" name="Text 2"/>
          <p:cNvSpPr/>
          <p:nvPr/>
        </p:nvSpPr>
        <p:spPr>
          <a:xfrm>
            <a:off x="457200" y="621792"/>
            <a:ext cx="8229600" cy="658368"/>
          </a:xfrm>
          <a:prstGeom prst="rect">
            <a:avLst/>
          </a:prstGeom>
          <a:noFill/>
          <a:ln/>
        </p:spPr>
        <p:txBody>
          <a:bodyPr wrap="square" rtlCol="0" anchor="ctr"/>
          <a:lstStyle/>
          <a:p>
            <a:pPr marL="0" indent="0" algn="l">
              <a:buNone/>
            </a:pPr>
            <a:r>
              <a:rPr lang="en-US" sz="3200" b="1" dirty="0">
                <a:solidFill>
                  <a:srgbClr val="1A202C"/>
                </a:solidFill>
                <a:latin typeface="Georgia" pitchFamily="34" charset="0"/>
                <a:ea typeface="Georgia" pitchFamily="34" charset="-122"/>
                <a:cs typeface="Georgia" pitchFamily="34" charset="-120"/>
              </a:rPr>
              <a:t>Problem Definition</a:t>
            </a:r>
            <a:endParaRPr lang="en-US" sz="3200" dirty="0"/>
          </a:p>
        </p:txBody>
      </p:sp>
      <p:sp>
        <p:nvSpPr>
          <p:cNvPr id="5" name="Shape 3"/>
          <p:cNvSpPr/>
          <p:nvPr/>
        </p:nvSpPr>
        <p:spPr>
          <a:xfrm>
            <a:off x="457200" y="1325880"/>
            <a:ext cx="8229600" cy="0"/>
          </a:xfrm>
          <a:prstGeom prst="line">
            <a:avLst/>
          </a:prstGeom>
          <a:noFill/>
          <a:ln w="12700">
            <a:solidFill>
              <a:srgbClr val="E2E8F0"/>
            </a:solidFill>
            <a:prstDash val="solid"/>
          </a:ln>
        </p:spPr>
        <p:txBody>
          <a:bodyPr/>
          <a:lstStyle/>
          <a:p>
            <a:endParaRPr lang="en-US"/>
          </a:p>
        </p:txBody>
      </p:sp>
      <p:sp>
        <p:nvSpPr>
          <p:cNvPr id="6" name="Shape 4"/>
          <p:cNvSpPr/>
          <p:nvPr/>
        </p:nvSpPr>
        <p:spPr>
          <a:xfrm>
            <a:off x="457200" y="1444752"/>
            <a:ext cx="8229600" cy="1078992"/>
          </a:xfrm>
          <a:prstGeom prst="rect">
            <a:avLst/>
          </a:prstGeom>
          <a:solidFill>
            <a:srgbClr val="FFFFFF"/>
          </a:solidFill>
          <a:ln w="9525">
            <a:solidFill>
              <a:srgbClr val="E2E8F0"/>
            </a:solidFill>
            <a:prstDash val="solid"/>
          </a:ln>
        </p:spPr>
        <p:txBody>
          <a:bodyPr/>
          <a:lstStyle/>
          <a:p>
            <a:endParaRPr lang="en-US"/>
          </a:p>
        </p:txBody>
      </p:sp>
      <p:sp>
        <p:nvSpPr>
          <p:cNvPr id="7" name="Shape 5"/>
          <p:cNvSpPr/>
          <p:nvPr/>
        </p:nvSpPr>
        <p:spPr>
          <a:xfrm>
            <a:off x="457200" y="1444752"/>
            <a:ext cx="73152" cy="1078992"/>
          </a:xfrm>
          <a:prstGeom prst="rect">
            <a:avLst/>
          </a:prstGeom>
          <a:solidFill>
            <a:srgbClr val="9B1C1C"/>
          </a:solidFill>
          <a:ln w="12700">
            <a:solidFill>
              <a:srgbClr val="9B1C1C"/>
            </a:solidFill>
            <a:prstDash val="solid"/>
          </a:ln>
        </p:spPr>
        <p:txBody>
          <a:bodyPr/>
          <a:lstStyle/>
          <a:p>
            <a:endParaRPr lang="en-US"/>
          </a:p>
        </p:txBody>
      </p:sp>
      <p:sp>
        <p:nvSpPr>
          <p:cNvPr id="8" name="Text 6"/>
          <p:cNvSpPr/>
          <p:nvPr/>
        </p:nvSpPr>
        <p:spPr>
          <a:xfrm>
            <a:off x="658368" y="1490472"/>
            <a:ext cx="7863840" cy="256032"/>
          </a:xfrm>
          <a:prstGeom prst="rect">
            <a:avLst/>
          </a:prstGeom>
          <a:noFill/>
          <a:ln/>
        </p:spPr>
        <p:txBody>
          <a:bodyPr wrap="square" rtlCol="0" anchor="ctr"/>
          <a:lstStyle/>
          <a:p>
            <a:pPr marL="0" indent="0">
              <a:buNone/>
            </a:pPr>
            <a:r>
              <a:rPr lang="en-US" sz="900" b="1" dirty="0">
                <a:solidFill>
                  <a:srgbClr val="9B1C1C"/>
                </a:solidFill>
                <a:latin typeface="Calibri" pitchFamily="34" charset="0"/>
                <a:ea typeface="Calibri" pitchFamily="34" charset="-122"/>
                <a:cs typeface="Calibri" pitchFamily="34" charset="-120"/>
              </a:rPr>
              <a:t>How Might We Statement</a:t>
            </a:r>
            <a:endParaRPr lang="en-US" sz="900" dirty="0"/>
          </a:p>
        </p:txBody>
      </p:sp>
      <p:sp>
        <p:nvSpPr>
          <p:cNvPr id="9" name="Text 7"/>
          <p:cNvSpPr/>
          <p:nvPr/>
        </p:nvSpPr>
        <p:spPr>
          <a:xfrm>
            <a:off x="658368" y="1737360"/>
            <a:ext cx="7863840" cy="685800"/>
          </a:xfrm>
          <a:prstGeom prst="rect">
            <a:avLst/>
          </a:prstGeom>
          <a:noFill/>
          <a:ln/>
        </p:spPr>
        <p:txBody>
          <a:bodyPr wrap="square" rtlCol="0" anchor="ctr"/>
          <a:lstStyle/>
          <a:p>
            <a:pPr marL="0" indent="0">
              <a:buNone/>
            </a:pPr>
            <a:r>
              <a:rPr lang="en-US" sz="1300" i="1" dirty="0">
                <a:solidFill>
                  <a:srgbClr val="1A202C"/>
                </a:solidFill>
                <a:latin typeface="Georgia" pitchFamily="34" charset="0"/>
                <a:ea typeface="Georgia" pitchFamily="34" charset="-122"/>
                <a:cs typeface="Georgia" pitchFamily="34" charset="-120"/>
              </a:rPr>
              <a:t>"How might we help non-technical car owners quickly understand the urgency and likely cause of a vehicle symptom, so they can make an informed decision about whether to keep driving or seek immediate help?"</a:t>
            </a:r>
            <a:endParaRPr lang="en-US" sz="1300" dirty="0"/>
          </a:p>
        </p:txBody>
      </p:sp>
      <p:sp>
        <p:nvSpPr>
          <p:cNvPr id="10" name="Shape 8"/>
          <p:cNvSpPr/>
          <p:nvPr/>
        </p:nvSpPr>
        <p:spPr>
          <a:xfrm>
            <a:off x="457200" y="2697480"/>
            <a:ext cx="2651760" cy="1920240"/>
          </a:xfrm>
          <a:prstGeom prst="rect">
            <a:avLst/>
          </a:prstGeom>
          <a:solidFill>
            <a:srgbClr val="FFFFFF"/>
          </a:solidFill>
          <a:ln w="9525">
            <a:solidFill>
              <a:srgbClr val="E2E8F0"/>
            </a:solidFill>
            <a:prstDash val="solid"/>
          </a:ln>
        </p:spPr>
        <p:txBody>
          <a:bodyPr/>
          <a:lstStyle/>
          <a:p>
            <a:endParaRPr lang="en-US"/>
          </a:p>
        </p:txBody>
      </p:sp>
      <p:sp>
        <p:nvSpPr>
          <p:cNvPr id="11" name="Shape 9"/>
          <p:cNvSpPr/>
          <p:nvPr/>
        </p:nvSpPr>
        <p:spPr>
          <a:xfrm>
            <a:off x="457200" y="2697480"/>
            <a:ext cx="2651760" cy="329184"/>
          </a:xfrm>
          <a:prstGeom prst="rect">
            <a:avLst/>
          </a:prstGeom>
          <a:solidFill>
            <a:srgbClr val="9B1C1C"/>
          </a:solidFill>
          <a:ln w="12700">
            <a:solidFill>
              <a:srgbClr val="9B1C1C"/>
            </a:solidFill>
            <a:prstDash val="solid"/>
          </a:ln>
        </p:spPr>
        <p:txBody>
          <a:bodyPr/>
          <a:lstStyle/>
          <a:p>
            <a:endParaRPr lang="en-US"/>
          </a:p>
        </p:txBody>
      </p:sp>
      <p:sp>
        <p:nvSpPr>
          <p:cNvPr id="12" name="Text 10"/>
          <p:cNvSpPr/>
          <p:nvPr/>
        </p:nvSpPr>
        <p:spPr>
          <a:xfrm>
            <a:off x="457200" y="2697480"/>
            <a:ext cx="265176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Scope</a:t>
            </a:r>
            <a:endParaRPr lang="en-US" sz="1100" dirty="0"/>
          </a:p>
        </p:txBody>
      </p:sp>
      <p:sp>
        <p:nvSpPr>
          <p:cNvPr id="13" name="Text 11"/>
          <p:cNvSpPr/>
          <p:nvPr/>
        </p:nvSpPr>
        <p:spPr>
          <a:xfrm>
            <a:off x="585216" y="3090672"/>
            <a:ext cx="2395728" cy="141732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Text-based symptom triage only. The bot identifies likely issue categories — not specific parts. This distinction preserves safety while remaining genuinely helpful.</a:t>
            </a:r>
            <a:endParaRPr lang="en-US" sz="1050" dirty="0"/>
          </a:p>
        </p:txBody>
      </p:sp>
      <p:sp>
        <p:nvSpPr>
          <p:cNvPr id="14" name="Shape 12"/>
          <p:cNvSpPr/>
          <p:nvPr/>
        </p:nvSpPr>
        <p:spPr>
          <a:xfrm>
            <a:off x="3319272" y="2697480"/>
            <a:ext cx="2651760" cy="1920240"/>
          </a:xfrm>
          <a:prstGeom prst="rect">
            <a:avLst/>
          </a:prstGeom>
          <a:solidFill>
            <a:srgbClr val="FFFFFF"/>
          </a:solidFill>
          <a:ln w="9525">
            <a:solidFill>
              <a:srgbClr val="E2E8F0"/>
            </a:solidFill>
            <a:prstDash val="solid"/>
          </a:ln>
        </p:spPr>
        <p:txBody>
          <a:bodyPr/>
          <a:lstStyle/>
          <a:p>
            <a:endParaRPr lang="en-US"/>
          </a:p>
        </p:txBody>
      </p:sp>
      <p:sp>
        <p:nvSpPr>
          <p:cNvPr id="15" name="Shape 13"/>
          <p:cNvSpPr/>
          <p:nvPr/>
        </p:nvSpPr>
        <p:spPr>
          <a:xfrm>
            <a:off x="3319272" y="2697480"/>
            <a:ext cx="2651760" cy="329184"/>
          </a:xfrm>
          <a:prstGeom prst="rect">
            <a:avLst/>
          </a:prstGeom>
          <a:solidFill>
            <a:srgbClr val="991B1B"/>
          </a:solidFill>
          <a:ln w="12700">
            <a:solidFill>
              <a:srgbClr val="991B1B"/>
            </a:solidFill>
            <a:prstDash val="solid"/>
          </a:ln>
        </p:spPr>
        <p:txBody>
          <a:bodyPr/>
          <a:lstStyle/>
          <a:p>
            <a:endParaRPr lang="en-US"/>
          </a:p>
        </p:txBody>
      </p:sp>
      <p:sp>
        <p:nvSpPr>
          <p:cNvPr id="16" name="Text 14"/>
          <p:cNvSpPr/>
          <p:nvPr/>
        </p:nvSpPr>
        <p:spPr>
          <a:xfrm>
            <a:off x="3319272" y="2697480"/>
            <a:ext cx="265176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Constraints</a:t>
            </a:r>
            <a:endParaRPr lang="en-US" sz="1100" dirty="0"/>
          </a:p>
        </p:txBody>
      </p:sp>
      <p:sp>
        <p:nvSpPr>
          <p:cNvPr id="17" name="Text 15"/>
          <p:cNvSpPr/>
          <p:nvPr/>
        </p:nvSpPr>
        <p:spPr>
          <a:xfrm>
            <a:off x="3447288" y="3090672"/>
            <a:ext cx="2395728" cy="141732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Must not provide definitive diagnoses, repair cost estimates, or safety guarantees. Always refers users to a qualified mechanic for physical inspection.</a:t>
            </a:r>
            <a:endParaRPr lang="en-US" sz="1050" dirty="0"/>
          </a:p>
        </p:txBody>
      </p:sp>
      <p:sp>
        <p:nvSpPr>
          <p:cNvPr id="18" name="Shape 16"/>
          <p:cNvSpPr/>
          <p:nvPr/>
        </p:nvSpPr>
        <p:spPr>
          <a:xfrm>
            <a:off x="6181344" y="2697480"/>
            <a:ext cx="2651760" cy="1920240"/>
          </a:xfrm>
          <a:prstGeom prst="rect">
            <a:avLst/>
          </a:prstGeom>
          <a:solidFill>
            <a:srgbClr val="FFFFFF"/>
          </a:solidFill>
          <a:ln w="9525">
            <a:solidFill>
              <a:srgbClr val="E2E8F0"/>
            </a:solidFill>
            <a:prstDash val="solid"/>
          </a:ln>
        </p:spPr>
        <p:txBody>
          <a:bodyPr/>
          <a:lstStyle/>
          <a:p>
            <a:endParaRPr lang="en-US"/>
          </a:p>
        </p:txBody>
      </p:sp>
      <p:sp>
        <p:nvSpPr>
          <p:cNvPr id="19" name="Shape 17"/>
          <p:cNvSpPr/>
          <p:nvPr/>
        </p:nvSpPr>
        <p:spPr>
          <a:xfrm>
            <a:off x="6181344" y="2697480"/>
            <a:ext cx="2651760" cy="329184"/>
          </a:xfrm>
          <a:prstGeom prst="rect">
            <a:avLst/>
          </a:prstGeom>
          <a:solidFill>
            <a:srgbClr val="38A169"/>
          </a:solidFill>
          <a:ln w="12700">
            <a:solidFill>
              <a:srgbClr val="38A169"/>
            </a:solidFill>
            <a:prstDash val="solid"/>
          </a:ln>
        </p:spPr>
        <p:txBody>
          <a:bodyPr/>
          <a:lstStyle/>
          <a:p>
            <a:endParaRPr lang="en-US"/>
          </a:p>
        </p:txBody>
      </p:sp>
      <p:sp>
        <p:nvSpPr>
          <p:cNvPr id="20" name="Text 18"/>
          <p:cNvSpPr/>
          <p:nvPr/>
        </p:nvSpPr>
        <p:spPr>
          <a:xfrm>
            <a:off x="6181344" y="2697480"/>
            <a:ext cx="265176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Feasibility</a:t>
            </a:r>
            <a:endParaRPr lang="en-US" sz="1100" dirty="0"/>
          </a:p>
        </p:txBody>
      </p:sp>
      <p:sp>
        <p:nvSpPr>
          <p:cNvPr id="21" name="Text 19"/>
          <p:cNvSpPr/>
          <p:nvPr/>
        </p:nvSpPr>
        <p:spPr>
          <a:xfrm>
            <a:off x="6309360" y="3090672"/>
            <a:ext cx="2395728" cy="141732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Achievable with a large language model (LLM) via system prompt engineering. No proprietary vehicle database or custom model training required.</a:t>
            </a:r>
            <a:endParaRPr lang="en-US" sz="1050" dirty="0"/>
          </a:p>
        </p:txBody>
      </p:sp>
      <p:sp>
        <p:nvSpPr>
          <p:cNvPr id="22" name="Shape 20"/>
          <p:cNvSpPr/>
          <p:nvPr/>
        </p:nvSpPr>
        <p:spPr>
          <a:xfrm>
            <a:off x="457200" y="4736592"/>
            <a:ext cx="8229600" cy="0"/>
          </a:xfrm>
          <a:prstGeom prst="line">
            <a:avLst/>
          </a:prstGeom>
          <a:noFill/>
          <a:ln w="12700">
            <a:solidFill>
              <a:srgbClr val="E2E8F0"/>
            </a:solidFill>
            <a:prstDash val="solid"/>
          </a:ln>
        </p:spPr>
        <p:txBody>
          <a:bodyPr/>
          <a:lstStyle/>
          <a:p>
            <a:endParaRPr lang="en-US"/>
          </a:p>
        </p:txBody>
      </p:sp>
      <p:sp>
        <p:nvSpPr>
          <p:cNvPr id="24" name="Text 22"/>
          <p:cNvSpPr/>
          <p:nvPr/>
        </p:nvSpPr>
        <p:spPr>
          <a:xfrm>
            <a:off x="8503920" y="4773168"/>
            <a:ext cx="411480" cy="228600"/>
          </a:xfrm>
          <a:prstGeom prst="rect">
            <a:avLst/>
          </a:prstGeom>
          <a:noFill/>
          <a:ln/>
        </p:spPr>
        <p:txBody>
          <a:bodyPr wrap="square" rtlCol="0" anchor="ctr"/>
          <a:lstStyle/>
          <a:p>
            <a:pPr marL="0" indent="0" algn="r">
              <a:buNone/>
            </a:pPr>
            <a:r>
              <a:rPr lang="en-US" sz="900" dirty="0">
                <a:solidFill>
                  <a:srgbClr val="9AA3B0"/>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246888"/>
          </a:xfrm>
          <a:prstGeom prst="roundRect">
            <a:avLst>
              <a:gd name="adj" fmla="val 22222"/>
            </a:avLst>
          </a:prstGeom>
          <a:solidFill>
            <a:srgbClr val="FEF2F2"/>
          </a:solidFill>
          <a:ln w="6350">
            <a:solidFill>
              <a:srgbClr val="F87171"/>
            </a:solidFill>
            <a:prstDash val="solid"/>
          </a:ln>
        </p:spPr>
        <p:txBody>
          <a:bodyPr/>
          <a:lstStyle/>
          <a:p>
            <a:endParaRPr lang="en-US"/>
          </a:p>
        </p:txBody>
      </p:sp>
      <p:sp>
        <p:nvSpPr>
          <p:cNvPr id="3" name="Text 1"/>
          <p:cNvSpPr/>
          <p:nvPr/>
        </p:nvSpPr>
        <p:spPr>
          <a:xfrm>
            <a:off x="457200" y="274320"/>
            <a:ext cx="1371600" cy="246888"/>
          </a:xfrm>
          <a:prstGeom prst="rect">
            <a:avLst/>
          </a:prstGeom>
          <a:noFill/>
          <a:ln/>
        </p:spPr>
        <p:txBody>
          <a:bodyPr wrap="square" lIns="0" tIns="0" rIns="0" bIns="0" rtlCol="0" anchor="ctr"/>
          <a:lstStyle/>
          <a:p>
            <a:pPr marL="0" indent="0" algn="ctr">
              <a:buNone/>
            </a:pPr>
            <a:r>
              <a:rPr lang="en-US" sz="750" b="1" dirty="0">
                <a:solidFill>
                  <a:srgbClr val="9B1C1C"/>
                </a:solidFill>
              </a:rPr>
              <a:t>PHASE 3</a:t>
            </a:r>
            <a:endParaRPr lang="en-US" sz="750" dirty="0"/>
          </a:p>
        </p:txBody>
      </p:sp>
      <p:sp>
        <p:nvSpPr>
          <p:cNvPr id="4" name="Text 2"/>
          <p:cNvSpPr/>
          <p:nvPr/>
        </p:nvSpPr>
        <p:spPr>
          <a:xfrm>
            <a:off x="457200" y="621792"/>
            <a:ext cx="8229600" cy="658368"/>
          </a:xfrm>
          <a:prstGeom prst="rect">
            <a:avLst/>
          </a:prstGeom>
          <a:noFill/>
          <a:ln/>
        </p:spPr>
        <p:txBody>
          <a:bodyPr wrap="square" rtlCol="0" anchor="ctr"/>
          <a:lstStyle/>
          <a:p>
            <a:pPr marL="0" indent="0" algn="l">
              <a:buNone/>
            </a:pPr>
            <a:r>
              <a:rPr lang="en-US" sz="3200" b="1" dirty="0">
                <a:solidFill>
                  <a:srgbClr val="1A202C"/>
                </a:solidFill>
                <a:latin typeface="Georgia" pitchFamily="34" charset="0"/>
                <a:ea typeface="Georgia" pitchFamily="34" charset="-122"/>
                <a:cs typeface="Georgia" pitchFamily="34" charset="-120"/>
              </a:rPr>
              <a:t>Ideation — Exploring Solutions</a:t>
            </a:r>
            <a:endParaRPr lang="en-US" sz="3200" dirty="0"/>
          </a:p>
        </p:txBody>
      </p:sp>
      <p:sp>
        <p:nvSpPr>
          <p:cNvPr id="5" name="Shape 3"/>
          <p:cNvSpPr/>
          <p:nvPr/>
        </p:nvSpPr>
        <p:spPr>
          <a:xfrm>
            <a:off x="457200" y="1325880"/>
            <a:ext cx="8229600" cy="0"/>
          </a:xfrm>
          <a:prstGeom prst="line">
            <a:avLst/>
          </a:prstGeom>
          <a:noFill/>
          <a:ln w="12700">
            <a:solidFill>
              <a:srgbClr val="E2E8F0"/>
            </a:solidFill>
            <a:prstDash val="solid"/>
          </a:ln>
        </p:spPr>
        <p:txBody>
          <a:bodyPr/>
          <a:lstStyle/>
          <a:p>
            <a:endParaRPr lang="en-US"/>
          </a:p>
        </p:txBody>
      </p:sp>
      <p:sp>
        <p:nvSpPr>
          <p:cNvPr id="6" name="Text 4"/>
          <p:cNvSpPr/>
          <p:nvPr/>
        </p:nvSpPr>
        <p:spPr>
          <a:xfrm>
            <a:off x="457200" y="1408176"/>
            <a:ext cx="8229600" cy="320040"/>
          </a:xfrm>
          <a:prstGeom prst="rect">
            <a:avLst/>
          </a:prstGeom>
          <a:noFill/>
          <a:ln/>
        </p:spPr>
        <p:txBody>
          <a:bodyPr wrap="square" rtlCol="0" anchor="ctr"/>
          <a:lstStyle/>
          <a:p>
            <a:pPr marL="0" indent="0">
              <a:buNone/>
            </a:pPr>
            <a:r>
              <a:rPr lang="en-US" sz="1050" i="1" dirty="0">
                <a:solidFill>
                  <a:srgbClr val="9AA3B0"/>
                </a:solidFill>
                <a:latin typeface="Calibri" pitchFamily="34" charset="0"/>
                <a:ea typeface="Calibri" pitchFamily="34" charset="-122"/>
                <a:cs typeface="Calibri" pitchFamily="34" charset="-120"/>
              </a:rPr>
              <a:t>Four bot concepts were evaluated before selecting A-iButler based on feasibility, user value, and testability.</a:t>
            </a:r>
            <a:endParaRPr lang="en-US" sz="1050" dirty="0"/>
          </a:p>
        </p:txBody>
      </p:sp>
      <p:sp>
        <p:nvSpPr>
          <p:cNvPr id="7" name="Shape 5"/>
          <p:cNvSpPr/>
          <p:nvPr/>
        </p:nvSpPr>
        <p:spPr>
          <a:xfrm>
            <a:off x="457200" y="1828800"/>
            <a:ext cx="3977640" cy="1325880"/>
          </a:xfrm>
          <a:prstGeom prst="rect">
            <a:avLst/>
          </a:prstGeom>
          <a:solidFill>
            <a:srgbClr val="FEF2F2"/>
          </a:solidFill>
          <a:ln w="19050">
            <a:solidFill>
              <a:srgbClr val="9B1C1C"/>
            </a:solidFill>
            <a:prstDash val="solid"/>
          </a:ln>
        </p:spPr>
        <p:txBody>
          <a:bodyPr/>
          <a:lstStyle/>
          <a:p>
            <a:endParaRPr lang="en-US"/>
          </a:p>
        </p:txBody>
      </p:sp>
      <p:sp>
        <p:nvSpPr>
          <p:cNvPr id="8" name="Shape 6"/>
          <p:cNvSpPr/>
          <p:nvPr/>
        </p:nvSpPr>
        <p:spPr>
          <a:xfrm>
            <a:off x="3657600" y="1956816"/>
            <a:ext cx="685800" cy="256032"/>
          </a:xfrm>
          <a:prstGeom prst="rect">
            <a:avLst/>
          </a:prstGeom>
          <a:solidFill>
            <a:srgbClr val="F0FFF4"/>
          </a:solidFill>
          <a:ln w="9525">
            <a:solidFill>
              <a:srgbClr val="38A169"/>
            </a:solidFill>
            <a:prstDash val="solid"/>
          </a:ln>
        </p:spPr>
        <p:txBody>
          <a:bodyPr/>
          <a:lstStyle/>
          <a:p>
            <a:endParaRPr lang="en-US"/>
          </a:p>
        </p:txBody>
      </p:sp>
      <p:sp>
        <p:nvSpPr>
          <p:cNvPr id="9" name="Text 7"/>
          <p:cNvSpPr/>
          <p:nvPr/>
        </p:nvSpPr>
        <p:spPr>
          <a:xfrm>
            <a:off x="3657600" y="1956816"/>
            <a:ext cx="685800" cy="256032"/>
          </a:xfrm>
          <a:prstGeom prst="rect">
            <a:avLst/>
          </a:prstGeom>
          <a:noFill/>
          <a:ln/>
        </p:spPr>
        <p:txBody>
          <a:bodyPr wrap="square" lIns="0" tIns="0" rIns="0" bIns="0" rtlCol="0" anchor="ctr"/>
          <a:lstStyle/>
          <a:p>
            <a:pPr marL="0" indent="0" algn="ctr">
              <a:buNone/>
            </a:pPr>
            <a:r>
              <a:rPr lang="en-US" sz="850" b="1" dirty="0">
                <a:solidFill>
                  <a:srgbClr val="38A169"/>
                </a:solidFill>
              </a:rPr>
              <a:t>High</a:t>
            </a:r>
            <a:endParaRPr lang="en-US" sz="850" dirty="0"/>
          </a:p>
        </p:txBody>
      </p:sp>
      <p:sp>
        <p:nvSpPr>
          <p:cNvPr id="10" name="Text 8"/>
          <p:cNvSpPr/>
          <p:nvPr/>
        </p:nvSpPr>
        <p:spPr>
          <a:xfrm>
            <a:off x="594360" y="1938528"/>
            <a:ext cx="2971800" cy="384048"/>
          </a:xfrm>
          <a:prstGeom prst="rect">
            <a:avLst/>
          </a:prstGeom>
          <a:noFill/>
          <a:ln/>
        </p:spPr>
        <p:txBody>
          <a:bodyPr wrap="square" rtlCol="0" anchor="ctr"/>
          <a:lstStyle/>
          <a:p>
            <a:pPr marL="0" indent="0">
              <a:buNone/>
            </a:pPr>
            <a:r>
              <a:rPr lang="en-US" sz="1400" b="1" dirty="0">
                <a:solidFill>
                  <a:srgbClr val="9B1C1C"/>
                </a:solidFill>
                <a:latin typeface="Georgia" pitchFamily="34" charset="0"/>
                <a:ea typeface="Georgia" pitchFamily="34" charset="-122"/>
                <a:cs typeface="Georgia" pitchFamily="34" charset="-120"/>
              </a:rPr>
              <a:t>A-iButler</a:t>
            </a:r>
            <a:endParaRPr lang="en-US" sz="1400" dirty="0"/>
          </a:p>
        </p:txBody>
      </p:sp>
      <p:sp>
        <p:nvSpPr>
          <p:cNvPr id="11" name="Text 9"/>
          <p:cNvSpPr/>
          <p:nvPr/>
        </p:nvSpPr>
        <p:spPr>
          <a:xfrm>
            <a:off x="594360" y="2359152"/>
            <a:ext cx="374904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Car symptom triage — urgency, category, next steps</a:t>
            </a:r>
            <a:endParaRPr lang="en-US" sz="1050" dirty="0"/>
          </a:p>
        </p:txBody>
      </p:sp>
      <p:sp>
        <p:nvSpPr>
          <p:cNvPr id="12" name="Shape 10"/>
          <p:cNvSpPr/>
          <p:nvPr/>
        </p:nvSpPr>
        <p:spPr>
          <a:xfrm>
            <a:off x="594360" y="2852928"/>
            <a:ext cx="777240" cy="201168"/>
          </a:xfrm>
          <a:prstGeom prst="rect">
            <a:avLst/>
          </a:prstGeom>
          <a:solidFill>
            <a:srgbClr val="9B1C1C"/>
          </a:solidFill>
          <a:ln w="12700">
            <a:solidFill>
              <a:srgbClr val="9B1C1C"/>
            </a:solidFill>
            <a:prstDash val="solid"/>
          </a:ln>
        </p:spPr>
        <p:txBody>
          <a:bodyPr/>
          <a:lstStyle/>
          <a:p>
            <a:endParaRPr lang="en-US"/>
          </a:p>
        </p:txBody>
      </p:sp>
      <p:sp>
        <p:nvSpPr>
          <p:cNvPr id="13" name="Text 11"/>
          <p:cNvSpPr/>
          <p:nvPr/>
        </p:nvSpPr>
        <p:spPr>
          <a:xfrm>
            <a:off x="594360" y="2852928"/>
            <a:ext cx="777240" cy="201168"/>
          </a:xfrm>
          <a:prstGeom prst="rect">
            <a:avLst/>
          </a:prstGeom>
          <a:noFill/>
          <a:ln/>
        </p:spPr>
        <p:txBody>
          <a:bodyPr wrap="square" lIns="0" tIns="0" rIns="0" bIns="0" rtlCol="0" anchor="ctr"/>
          <a:lstStyle/>
          <a:p>
            <a:pPr marL="0" indent="0" algn="ctr">
              <a:buNone/>
            </a:pPr>
            <a:r>
              <a:rPr lang="en-US" sz="750" b="1" dirty="0">
                <a:solidFill>
                  <a:srgbClr val="FFFFFF"/>
                </a:solidFill>
              </a:rPr>
              <a:t>SELECTED</a:t>
            </a:r>
            <a:endParaRPr lang="en-US" sz="750" dirty="0"/>
          </a:p>
        </p:txBody>
      </p:sp>
      <p:sp>
        <p:nvSpPr>
          <p:cNvPr id="14" name="Shape 12"/>
          <p:cNvSpPr/>
          <p:nvPr/>
        </p:nvSpPr>
        <p:spPr>
          <a:xfrm>
            <a:off x="4709160" y="1828800"/>
            <a:ext cx="3977640" cy="1325880"/>
          </a:xfrm>
          <a:prstGeom prst="rect">
            <a:avLst/>
          </a:prstGeom>
          <a:solidFill>
            <a:srgbClr val="F8F9FA"/>
          </a:solidFill>
          <a:ln w="9525">
            <a:solidFill>
              <a:srgbClr val="E2E8F0"/>
            </a:solidFill>
            <a:prstDash val="solid"/>
          </a:ln>
        </p:spPr>
        <p:txBody>
          <a:bodyPr/>
          <a:lstStyle/>
          <a:p>
            <a:endParaRPr lang="en-US"/>
          </a:p>
        </p:txBody>
      </p:sp>
      <p:sp>
        <p:nvSpPr>
          <p:cNvPr id="15" name="Shape 13"/>
          <p:cNvSpPr/>
          <p:nvPr/>
        </p:nvSpPr>
        <p:spPr>
          <a:xfrm>
            <a:off x="7909560" y="1956816"/>
            <a:ext cx="685800" cy="256032"/>
          </a:xfrm>
          <a:prstGeom prst="rect">
            <a:avLst/>
          </a:prstGeom>
          <a:solidFill>
            <a:srgbClr val="FFFBEB"/>
          </a:solidFill>
          <a:ln w="9525">
            <a:solidFill>
              <a:srgbClr val="D97706"/>
            </a:solidFill>
            <a:prstDash val="solid"/>
          </a:ln>
        </p:spPr>
        <p:txBody>
          <a:bodyPr/>
          <a:lstStyle/>
          <a:p>
            <a:endParaRPr lang="en-US"/>
          </a:p>
        </p:txBody>
      </p:sp>
      <p:sp>
        <p:nvSpPr>
          <p:cNvPr id="16" name="Text 14"/>
          <p:cNvSpPr/>
          <p:nvPr/>
        </p:nvSpPr>
        <p:spPr>
          <a:xfrm>
            <a:off x="7909560" y="1956816"/>
            <a:ext cx="685800" cy="256032"/>
          </a:xfrm>
          <a:prstGeom prst="rect">
            <a:avLst/>
          </a:prstGeom>
          <a:noFill/>
          <a:ln/>
        </p:spPr>
        <p:txBody>
          <a:bodyPr wrap="square" lIns="0" tIns="0" rIns="0" bIns="0" rtlCol="0" anchor="ctr"/>
          <a:lstStyle/>
          <a:p>
            <a:pPr marL="0" indent="0" algn="ctr">
              <a:buNone/>
            </a:pPr>
            <a:r>
              <a:rPr lang="en-US" sz="850" b="1" dirty="0">
                <a:solidFill>
                  <a:srgbClr val="D97706"/>
                </a:solidFill>
              </a:rPr>
              <a:t>Medium</a:t>
            </a:r>
            <a:endParaRPr lang="en-US" sz="850" dirty="0"/>
          </a:p>
        </p:txBody>
      </p:sp>
      <p:sp>
        <p:nvSpPr>
          <p:cNvPr id="17" name="Text 15"/>
          <p:cNvSpPr/>
          <p:nvPr/>
        </p:nvSpPr>
        <p:spPr>
          <a:xfrm>
            <a:off x="4846320" y="1938528"/>
            <a:ext cx="2971800" cy="384048"/>
          </a:xfrm>
          <a:prstGeom prst="rect">
            <a:avLst/>
          </a:prstGeom>
          <a:noFill/>
          <a:ln/>
        </p:spPr>
        <p:txBody>
          <a:bodyPr wrap="square" rtlCol="0" anchor="ctr"/>
          <a:lstStyle/>
          <a:p>
            <a:pPr marL="0" indent="0">
              <a:buNone/>
            </a:pPr>
            <a:r>
              <a:rPr lang="en-US" sz="1400" b="1" dirty="0">
                <a:solidFill>
                  <a:srgbClr val="1A202C"/>
                </a:solidFill>
                <a:latin typeface="Georgia" pitchFamily="34" charset="0"/>
                <a:ea typeface="Georgia" pitchFamily="34" charset="-122"/>
                <a:cs typeface="Georgia" pitchFamily="34" charset="-120"/>
              </a:rPr>
              <a:t>Trip Planner Bot</a:t>
            </a:r>
            <a:endParaRPr lang="en-US" sz="1400" dirty="0"/>
          </a:p>
        </p:txBody>
      </p:sp>
      <p:sp>
        <p:nvSpPr>
          <p:cNvPr id="18" name="Text 16"/>
          <p:cNvSpPr/>
          <p:nvPr/>
        </p:nvSpPr>
        <p:spPr>
          <a:xfrm>
            <a:off x="4846320" y="2359152"/>
            <a:ext cx="374904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Route &amp; maintenance checks before a long drive</a:t>
            </a:r>
            <a:endParaRPr lang="en-US" sz="1050" dirty="0"/>
          </a:p>
        </p:txBody>
      </p:sp>
      <p:sp>
        <p:nvSpPr>
          <p:cNvPr id="19" name="Shape 17"/>
          <p:cNvSpPr/>
          <p:nvPr/>
        </p:nvSpPr>
        <p:spPr>
          <a:xfrm>
            <a:off x="457200" y="3337560"/>
            <a:ext cx="3977640" cy="1325880"/>
          </a:xfrm>
          <a:prstGeom prst="rect">
            <a:avLst/>
          </a:prstGeom>
          <a:solidFill>
            <a:srgbClr val="F8F9FA"/>
          </a:solidFill>
          <a:ln w="9525">
            <a:solidFill>
              <a:srgbClr val="E2E8F0"/>
            </a:solidFill>
            <a:prstDash val="solid"/>
          </a:ln>
        </p:spPr>
        <p:txBody>
          <a:bodyPr/>
          <a:lstStyle/>
          <a:p>
            <a:endParaRPr lang="en-US"/>
          </a:p>
        </p:txBody>
      </p:sp>
      <p:sp>
        <p:nvSpPr>
          <p:cNvPr id="20" name="Shape 18"/>
          <p:cNvSpPr/>
          <p:nvPr/>
        </p:nvSpPr>
        <p:spPr>
          <a:xfrm>
            <a:off x="3657600" y="3465576"/>
            <a:ext cx="685800" cy="256032"/>
          </a:xfrm>
          <a:prstGeom prst="rect">
            <a:avLst/>
          </a:prstGeom>
          <a:solidFill>
            <a:srgbClr val="FFF5F5"/>
          </a:solidFill>
          <a:ln w="9525">
            <a:solidFill>
              <a:srgbClr val="E53E3E"/>
            </a:solidFill>
            <a:prstDash val="solid"/>
          </a:ln>
        </p:spPr>
        <p:txBody>
          <a:bodyPr/>
          <a:lstStyle/>
          <a:p>
            <a:endParaRPr lang="en-US"/>
          </a:p>
        </p:txBody>
      </p:sp>
      <p:sp>
        <p:nvSpPr>
          <p:cNvPr id="21" name="Text 19"/>
          <p:cNvSpPr/>
          <p:nvPr/>
        </p:nvSpPr>
        <p:spPr>
          <a:xfrm>
            <a:off x="3657600" y="3465576"/>
            <a:ext cx="685800" cy="256032"/>
          </a:xfrm>
          <a:prstGeom prst="rect">
            <a:avLst/>
          </a:prstGeom>
          <a:noFill/>
          <a:ln/>
        </p:spPr>
        <p:txBody>
          <a:bodyPr wrap="square" lIns="0" tIns="0" rIns="0" bIns="0" rtlCol="0" anchor="ctr"/>
          <a:lstStyle/>
          <a:p>
            <a:pPr marL="0" indent="0" algn="ctr">
              <a:buNone/>
            </a:pPr>
            <a:r>
              <a:rPr lang="en-US" sz="850" b="1" dirty="0">
                <a:solidFill>
                  <a:srgbClr val="E53E3E"/>
                </a:solidFill>
              </a:rPr>
              <a:t>Low</a:t>
            </a:r>
            <a:endParaRPr lang="en-US" sz="850" dirty="0"/>
          </a:p>
        </p:txBody>
      </p:sp>
      <p:sp>
        <p:nvSpPr>
          <p:cNvPr id="22" name="Text 20"/>
          <p:cNvSpPr/>
          <p:nvPr/>
        </p:nvSpPr>
        <p:spPr>
          <a:xfrm>
            <a:off x="594360" y="3447288"/>
            <a:ext cx="2971800" cy="384048"/>
          </a:xfrm>
          <a:prstGeom prst="rect">
            <a:avLst/>
          </a:prstGeom>
          <a:noFill/>
          <a:ln/>
        </p:spPr>
        <p:txBody>
          <a:bodyPr wrap="square" rtlCol="0" anchor="ctr"/>
          <a:lstStyle/>
          <a:p>
            <a:pPr marL="0" indent="0">
              <a:buNone/>
            </a:pPr>
            <a:r>
              <a:rPr lang="en-US" sz="1400" b="1" dirty="0">
                <a:solidFill>
                  <a:srgbClr val="1A202C"/>
                </a:solidFill>
                <a:latin typeface="Georgia" pitchFamily="34" charset="0"/>
                <a:ea typeface="Georgia" pitchFamily="34" charset="-122"/>
                <a:cs typeface="Georgia" pitchFamily="34" charset="-120"/>
              </a:rPr>
              <a:t>Recall Checker</a:t>
            </a:r>
            <a:endParaRPr lang="en-US" sz="1400" dirty="0"/>
          </a:p>
        </p:txBody>
      </p:sp>
      <p:sp>
        <p:nvSpPr>
          <p:cNvPr id="23" name="Text 21"/>
          <p:cNvSpPr/>
          <p:nvPr/>
        </p:nvSpPr>
        <p:spPr>
          <a:xfrm>
            <a:off x="594360" y="3867912"/>
            <a:ext cx="374904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Looks up active recalls by VIN — requires external API</a:t>
            </a:r>
            <a:endParaRPr lang="en-US" sz="1050" dirty="0"/>
          </a:p>
        </p:txBody>
      </p:sp>
      <p:sp>
        <p:nvSpPr>
          <p:cNvPr id="24" name="Shape 22"/>
          <p:cNvSpPr/>
          <p:nvPr/>
        </p:nvSpPr>
        <p:spPr>
          <a:xfrm>
            <a:off x="4709160" y="3337560"/>
            <a:ext cx="3977640" cy="1325880"/>
          </a:xfrm>
          <a:prstGeom prst="rect">
            <a:avLst/>
          </a:prstGeom>
          <a:solidFill>
            <a:srgbClr val="F8F9FA"/>
          </a:solidFill>
          <a:ln w="9525">
            <a:solidFill>
              <a:srgbClr val="E2E8F0"/>
            </a:solidFill>
            <a:prstDash val="solid"/>
          </a:ln>
        </p:spPr>
        <p:txBody>
          <a:bodyPr/>
          <a:lstStyle/>
          <a:p>
            <a:endParaRPr lang="en-US"/>
          </a:p>
        </p:txBody>
      </p:sp>
      <p:sp>
        <p:nvSpPr>
          <p:cNvPr id="25" name="Shape 23"/>
          <p:cNvSpPr/>
          <p:nvPr/>
        </p:nvSpPr>
        <p:spPr>
          <a:xfrm>
            <a:off x="7909560" y="3465576"/>
            <a:ext cx="685800" cy="256032"/>
          </a:xfrm>
          <a:prstGeom prst="rect">
            <a:avLst/>
          </a:prstGeom>
          <a:solidFill>
            <a:srgbClr val="FFF5F5"/>
          </a:solidFill>
          <a:ln w="9525">
            <a:solidFill>
              <a:srgbClr val="E53E3E"/>
            </a:solidFill>
            <a:prstDash val="solid"/>
          </a:ln>
        </p:spPr>
        <p:txBody>
          <a:bodyPr/>
          <a:lstStyle/>
          <a:p>
            <a:endParaRPr lang="en-US"/>
          </a:p>
        </p:txBody>
      </p:sp>
      <p:sp>
        <p:nvSpPr>
          <p:cNvPr id="26" name="Text 24"/>
          <p:cNvSpPr/>
          <p:nvPr/>
        </p:nvSpPr>
        <p:spPr>
          <a:xfrm>
            <a:off x="7909560" y="3465576"/>
            <a:ext cx="685800" cy="256032"/>
          </a:xfrm>
          <a:prstGeom prst="rect">
            <a:avLst/>
          </a:prstGeom>
          <a:noFill/>
          <a:ln/>
        </p:spPr>
        <p:txBody>
          <a:bodyPr wrap="square" lIns="0" tIns="0" rIns="0" bIns="0" rtlCol="0" anchor="ctr"/>
          <a:lstStyle/>
          <a:p>
            <a:pPr marL="0" indent="0" algn="ctr">
              <a:buNone/>
            </a:pPr>
            <a:r>
              <a:rPr lang="en-US" sz="850" b="1" dirty="0">
                <a:solidFill>
                  <a:srgbClr val="E53E3E"/>
                </a:solidFill>
              </a:rPr>
              <a:t>Low</a:t>
            </a:r>
            <a:endParaRPr lang="en-US" sz="850" dirty="0"/>
          </a:p>
        </p:txBody>
      </p:sp>
      <p:sp>
        <p:nvSpPr>
          <p:cNvPr id="27" name="Text 25"/>
          <p:cNvSpPr/>
          <p:nvPr/>
        </p:nvSpPr>
        <p:spPr>
          <a:xfrm>
            <a:off x="4846320" y="3447288"/>
            <a:ext cx="2971800" cy="384048"/>
          </a:xfrm>
          <a:prstGeom prst="rect">
            <a:avLst/>
          </a:prstGeom>
          <a:noFill/>
          <a:ln/>
        </p:spPr>
        <p:txBody>
          <a:bodyPr wrap="square" rtlCol="0" anchor="ctr"/>
          <a:lstStyle/>
          <a:p>
            <a:pPr marL="0" indent="0">
              <a:buNone/>
            </a:pPr>
            <a:r>
              <a:rPr lang="en-US" sz="1400" b="1" dirty="0">
                <a:solidFill>
                  <a:srgbClr val="1A202C"/>
                </a:solidFill>
                <a:latin typeface="Georgia" pitchFamily="34" charset="0"/>
                <a:ea typeface="Georgia" pitchFamily="34" charset="-122"/>
                <a:cs typeface="Georgia" pitchFamily="34" charset="-120"/>
              </a:rPr>
              <a:t>Mechanic Finder</a:t>
            </a:r>
            <a:endParaRPr lang="en-US" sz="1400" dirty="0"/>
          </a:p>
        </p:txBody>
      </p:sp>
      <p:sp>
        <p:nvSpPr>
          <p:cNvPr id="28" name="Text 26"/>
          <p:cNvSpPr/>
          <p:nvPr/>
        </p:nvSpPr>
        <p:spPr>
          <a:xfrm>
            <a:off x="4846320" y="3867912"/>
            <a:ext cx="374904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Recommends local shops — requires location data &amp; listings</a:t>
            </a:r>
            <a:endParaRPr lang="en-US" sz="1050" dirty="0"/>
          </a:p>
        </p:txBody>
      </p:sp>
      <p:sp>
        <p:nvSpPr>
          <p:cNvPr id="29" name="Text 27"/>
          <p:cNvSpPr/>
          <p:nvPr/>
        </p:nvSpPr>
        <p:spPr>
          <a:xfrm>
            <a:off x="457200" y="4645152"/>
            <a:ext cx="8229600" cy="274320"/>
          </a:xfrm>
          <a:prstGeom prst="rect">
            <a:avLst/>
          </a:prstGeom>
          <a:noFill/>
          <a:ln/>
        </p:spPr>
        <p:txBody>
          <a:bodyPr wrap="square" rtlCol="0" anchor="ctr"/>
          <a:lstStyle/>
          <a:p>
            <a:pPr marL="0" indent="0">
              <a:buNone/>
            </a:pPr>
            <a:r>
              <a:rPr lang="en-US" sz="900" i="1" dirty="0">
                <a:solidFill>
                  <a:srgbClr val="9AA3B0"/>
                </a:solidFill>
                <a:latin typeface="Calibri" pitchFamily="34" charset="0"/>
                <a:ea typeface="Calibri" pitchFamily="34" charset="-122"/>
                <a:cs typeface="Calibri" pitchFamily="34" charset="-120"/>
              </a:rPr>
              <a:t>Selection rationale: A-iButler scored highest — clear user pain point, no external APIs needed, easy to test with concrete scenarios, strong alignment with LLM capabilities.</a:t>
            </a:r>
            <a:endParaRPr lang="en-US" sz="900" dirty="0"/>
          </a:p>
        </p:txBody>
      </p:sp>
      <p:sp>
        <p:nvSpPr>
          <p:cNvPr id="30" name="Shape 28"/>
          <p:cNvSpPr/>
          <p:nvPr/>
        </p:nvSpPr>
        <p:spPr>
          <a:xfrm>
            <a:off x="457200" y="4736592"/>
            <a:ext cx="8229600" cy="0"/>
          </a:xfrm>
          <a:prstGeom prst="line">
            <a:avLst/>
          </a:prstGeom>
          <a:noFill/>
          <a:ln w="12700">
            <a:solidFill>
              <a:srgbClr val="E2E8F0"/>
            </a:solidFill>
            <a:prstDash val="solid"/>
          </a:ln>
        </p:spPr>
        <p:txBody>
          <a:bodyPr/>
          <a:lstStyle/>
          <a:p>
            <a:endParaRPr lang="en-US"/>
          </a:p>
        </p:txBody>
      </p:sp>
      <p:sp>
        <p:nvSpPr>
          <p:cNvPr id="32" name="Text 30"/>
          <p:cNvSpPr/>
          <p:nvPr/>
        </p:nvSpPr>
        <p:spPr>
          <a:xfrm>
            <a:off x="8503920" y="4773168"/>
            <a:ext cx="411480" cy="228600"/>
          </a:xfrm>
          <a:prstGeom prst="rect">
            <a:avLst/>
          </a:prstGeom>
          <a:noFill/>
          <a:ln/>
        </p:spPr>
        <p:txBody>
          <a:bodyPr wrap="square" rtlCol="0" anchor="ctr"/>
          <a:lstStyle/>
          <a:p>
            <a:pPr marL="0" indent="0" algn="r">
              <a:buNone/>
            </a:pPr>
            <a:r>
              <a:rPr lang="en-US" sz="900" dirty="0">
                <a:solidFill>
                  <a:srgbClr val="9AA3B0"/>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246888"/>
          </a:xfrm>
          <a:prstGeom prst="roundRect">
            <a:avLst>
              <a:gd name="adj" fmla="val 22222"/>
            </a:avLst>
          </a:prstGeom>
          <a:solidFill>
            <a:srgbClr val="FEF2F2"/>
          </a:solidFill>
          <a:ln w="6350">
            <a:solidFill>
              <a:srgbClr val="F87171"/>
            </a:solidFill>
            <a:prstDash val="solid"/>
          </a:ln>
        </p:spPr>
        <p:txBody>
          <a:bodyPr/>
          <a:lstStyle/>
          <a:p>
            <a:endParaRPr lang="en-US"/>
          </a:p>
        </p:txBody>
      </p:sp>
      <p:sp>
        <p:nvSpPr>
          <p:cNvPr id="3" name="Text 1"/>
          <p:cNvSpPr/>
          <p:nvPr/>
        </p:nvSpPr>
        <p:spPr>
          <a:xfrm>
            <a:off x="457200" y="274320"/>
            <a:ext cx="1371600" cy="246888"/>
          </a:xfrm>
          <a:prstGeom prst="rect">
            <a:avLst/>
          </a:prstGeom>
          <a:noFill/>
          <a:ln/>
        </p:spPr>
        <p:txBody>
          <a:bodyPr wrap="square" lIns="0" tIns="0" rIns="0" bIns="0" rtlCol="0" anchor="ctr"/>
          <a:lstStyle/>
          <a:p>
            <a:pPr marL="0" indent="0" algn="ctr">
              <a:buNone/>
            </a:pPr>
            <a:r>
              <a:rPr lang="en-US" sz="750" b="1" dirty="0">
                <a:solidFill>
                  <a:srgbClr val="9B1C1C"/>
                </a:solidFill>
              </a:rPr>
              <a:t>PHASE 4</a:t>
            </a:r>
            <a:endParaRPr lang="en-US" sz="750" dirty="0"/>
          </a:p>
        </p:txBody>
      </p:sp>
      <p:sp>
        <p:nvSpPr>
          <p:cNvPr id="4" name="Text 2"/>
          <p:cNvSpPr/>
          <p:nvPr/>
        </p:nvSpPr>
        <p:spPr>
          <a:xfrm>
            <a:off x="457200" y="621792"/>
            <a:ext cx="8229600" cy="658368"/>
          </a:xfrm>
          <a:prstGeom prst="rect">
            <a:avLst/>
          </a:prstGeom>
          <a:noFill/>
          <a:ln/>
        </p:spPr>
        <p:txBody>
          <a:bodyPr wrap="square" rtlCol="0" anchor="ctr"/>
          <a:lstStyle/>
          <a:p>
            <a:pPr marL="0" indent="0" algn="l">
              <a:buNone/>
            </a:pPr>
            <a:r>
              <a:rPr lang="en-US" sz="3200" b="1" dirty="0">
                <a:solidFill>
                  <a:srgbClr val="1A202C"/>
                </a:solidFill>
                <a:latin typeface="Georgia" pitchFamily="34" charset="0"/>
                <a:ea typeface="Georgia" pitchFamily="34" charset="-122"/>
                <a:cs typeface="Georgia" pitchFamily="34" charset="-120"/>
              </a:rPr>
              <a:t>Prototype — System Design</a:t>
            </a:r>
            <a:endParaRPr lang="en-US" sz="3200" dirty="0"/>
          </a:p>
        </p:txBody>
      </p:sp>
      <p:sp>
        <p:nvSpPr>
          <p:cNvPr id="5" name="Shape 3"/>
          <p:cNvSpPr/>
          <p:nvPr/>
        </p:nvSpPr>
        <p:spPr>
          <a:xfrm>
            <a:off x="457200" y="1325880"/>
            <a:ext cx="8229600" cy="0"/>
          </a:xfrm>
          <a:prstGeom prst="line">
            <a:avLst/>
          </a:prstGeom>
          <a:noFill/>
          <a:ln w="12700">
            <a:solidFill>
              <a:srgbClr val="E2E8F0"/>
            </a:solidFill>
            <a:prstDash val="solid"/>
          </a:ln>
        </p:spPr>
        <p:txBody>
          <a:bodyPr/>
          <a:lstStyle/>
          <a:p>
            <a:endParaRPr lang="en-US"/>
          </a:p>
        </p:txBody>
      </p:sp>
      <p:sp>
        <p:nvSpPr>
          <p:cNvPr id="6" name="Shape 4"/>
          <p:cNvSpPr/>
          <p:nvPr/>
        </p:nvSpPr>
        <p:spPr>
          <a:xfrm>
            <a:off x="457200" y="1444752"/>
            <a:ext cx="4114800" cy="731520"/>
          </a:xfrm>
          <a:prstGeom prst="rect">
            <a:avLst/>
          </a:prstGeom>
          <a:solidFill>
            <a:srgbClr val="FFFFFF"/>
          </a:solidFill>
          <a:ln w="9525">
            <a:solidFill>
              <a:srgbClr val="E2E8F0"/>
            </a:solidFill>
            <a:prstDash val="solid"/>
          </a:ln>
        </p:spPr>
        <p:txBody>
          <a:bodyPr/>
          <a:lstStyle/>
          <a:p>
            <a:endParaRPr lang="en-US"/>
          </a:p>
        </p:txBody>
      </p:sp>
      <p:sp>
        <p:nvSpPr>
          <p:cNvPr id="7" name="Shape 5"/>
          <p:cNvSpPr/>
          <p:nvPr/>
        </p:nvSpPr>
        <p:spPr>
          <a:xfrm>
            <a:off x="457200" y="1444752"/>
            <a:ext cx="1371600" cy="731520"/>
          </a:xfrm>
          <a:prstGeom prst="rect">
            <a:avLst/>
          </a:prstGeom>
          <a:solidFill>
            <a:srgbClr val="F0F2F5"/>
          </a:solidFill>
          <a:ln w="9525">
            <a:solidFill>
              <a:srgbClr val="E2E8F0"/>
            </a:solidFill>
            <a:prstDash val="solid"/>
          </a:ln>
        </p:spPr>
        <p:txBody>
          <a:bodyPr/>
          <a:lstStyle/>
          <a:p>
            <a:endParaRPr lang="en-US"/>
          </a:p>
        </p:txBody>
      </p:sp>
      <p:sp>
        <p:nvSpPr>
          <p:cNvPr id="8" name="Shape 6"/>
          <p:cNvSpPr/>
          <p:nvPr/>
        </p:nvSpPr>
        <p:spPr>
          <a:xfrm>
            <a:off x="457200" y="1444752"/>
            <a:ext cx="54864" cy="731520"/>
          </a:xfrm>
          <a:prstGeom prst="rect">
            <a:avLst/>
          </a:prstGeom>
          <a:solidFill>
            <a:srgbClr val="9B1C1C"/>
          </a:solidFill>
          <a:ln w="12700">
            <a:solidFill>
              <a:srgbClr val="9B1C1C"/>
            </a:solidFill>
            <a:prstDash val="solid"/>
          </a:ln>
        </p:spPr>
        <p:txBody>
          <a:bodyPr/>
          <a:lstStyle/>
          <a:p>
            <a:endParaRPr lang="en-US"/>
          </a:p>
        </p:txBody>
      </p:sp>
      <p:sp>
        <p:nvSpPr>
          <p:cNvPr id="9" name="Text 7"/>
          <p:cNvSpPr/>
          <p:nvPr/>
        </p:nvSpPr>
        <p:spPr>
          <a:xfrm>
            <a:off x="548640" y="1444752"/>
            <a:ext cx="1280160" cy="731520"/>
          </a:xfrm>
          <a:prstGeom prst="rect">
            <a:avLst/>
          </a:prstGeom>
          <a:noFill/>
          <a:ln/>
        </p:spPr>
        <p:txBody>
          <a:bodyPr wrap="square" lIns="50800" tIns="50800" rIns="50800" bIns="50800" rtlCol="0" anchor="ctr"/>
          <a:lstStyle/>
          <a:p>
            <a:pPr marL="0" indent="0" algn="ctr">
              <a:buNone/>
            </a:pPr>
            <a:r>
              <a:rPr lang="en-US" sz="950" b="1" dirty="0">
                <a:solidFill>
                  <a:srgbClr val="4A5568"/>
                </a:solidFill>
                <a:latin typeface="Calibri" pitchFamily="34" charset="0"/>
                <a:ea typeface="Calibri" pitchFamily="34" charset="-122"/>
                <a:cs typeface="Calibri" pitchFamily="34" charset="-120"/>
              </a:rPr>
              <a:t>Objective</a:t>
            </a:r>
            <a:endParaRPr lang="en-US" sz="950" dirty="0"/>
          </a:p>
        </p:txBody>
      </p:sp>
      <p:sp>
        <p:nvSpPr>
          <p:cNvPr id="10" name="Text 8"/>
          <p:cNvSpPr/>
          <p:nvPr/>
        </p:nvSpPr>
        <p:spPr>
          <a:xfrm>
            <a:off x="1874520" y="1444752"/>
            <a:ext cx="2606040" cy="731520"/>
          </a:xfrm>
          <a:prstGeom prst="rect">
            <a:avLst/>
          </a:prstGeom>
          <a:noFill/>
          <a:ln/>
        </p:spPr>
        <p:txBody>
          <a:bodyPr wrap="square" lIns="76200" tIns="76200" rIns="76200" bIns="76200" rtlCol="0" anchor="ctr"/>
          <a:lstStyle/>
          <a:p>
            <a:pPr marL="0" indent="0">
              <a:buNone/>
            </a:pPr>
            <a:r>
              <a:rPr lang="en-US" sz="950" dirty="0">
                <a:solidFill>
                  <a:srgbClr val="4A5568"/>
                </a:solidFill>
                <a:latin typeface="Calibri" pitchFamily="34" charset="0"/>
                <a:ea typeface="Calibri" pitchFamily="34" charset="-122"/>
                <a:cs typeface="Calibri" pitchFamily="34" charset="-120"/>
              </a:rPr>
              <a:t>Triage car symptoms; return urgency level, issue category &amp; next diagnostic steps</a:t>
            </a:r>
            <a:endParaRPr lang="en-US" sz="950" dirty="0"/>
          </a:p>
        </p:txBody>
      </p:sp>
      <p:sp>
        <p:nvSpPr>
          <p:cNvPr id="11" name="Shape 9"/>
          <p:cNvSpPr/>
          <p:nvPr/>
        </p:nvSpPr>
        <p:spPr>
          <a:xfrm>
            <a:off x="4800600" y="1444752"/>
            <a:ext cx="4114800" cy="731520"/>
          </a:xfrm>
          <a:prstGeom prst="rect">
            <a:avLst/>
          </a:prstGeom>
          <a:solidFill>
            <a:srgbClr val="FFFFFF"/>
          </a:solidFill>
          <a:ln w="9525">
            <a:solidFill>
              <a:srgbClr val="E2E8F0"/>
            </a:solidFill>
            <a:prstDash val="solid"/>
          </a:ln>
        </p:spPr>
        <p:txBody>
          <a:bodyPr/>
          <a:lstStyle/>
          <a:p>
            <a:endParaRPr lang="en-US"/>
          </a:p>
        </p:txBody>
      </p:sp>
      <p:sp>
        <p:nvSpPr>
          <p:cNvPr id="12" name="Shape 10"/>
          <p:cNvSpPr/>
          <p:nvPr/>
        </p:nvSpPr>
        <p:spPr>
          <a:xfrm>
            <a:off x="4800600" y="1444752"/>
            <a:ext cx="1371600" cy="731520"/>
          </a:xfrm>
          <a:prstGeom prst="rect">
            <a:avLst/>
          </a:prstGeom>
          <a:solidFill>
            <a:srgbClr val="F0F2F5"/>
          </a:solidFill>
          <a:ln w="9525">
            <a:solidFill>
              <a:srgbClr val="E2E8F0"/>
            </a:solidFill>
            <a:prstDash val="solid"/>
          </a:ln>
        </p:spPr>
        <p:txBody>
          <a:bodyPr/>
          <a:lstStyle/>
          <a:p>
            <a:endParaRPr lang="en-US"/>
          </a:p>
        </p:txBody>
      </p:sp>
      <p:sp>
        <p:nvSpPr>
          <p:cNvPr id="13" name="Shape 11"/>
          <p:cNvSpPr/>
          <p:nvPr/>
        </p:nvSpPr>
        <p:spPr>
          <a:xfrm>
            <a:off x="4800600" y="1444752"/>
            <a:ext cx="54864" cy="731520"/>
          </a:xfrm>
          <a:prstGeom prst="rect">
            <a:avLst/>
          </a:prstGeom>
          <a:solidFill>
            <a:srgbClr val="9B1C1C"/>
          </a:solidFill>
          <a:ln w="12700">
            <a:solidFill>
              <a:srgbClr val="9B1C1C"/>
            </a:solidFill>
            <a:prstDash val="solid"/>
          </a:ln>
        </p:spPr>
        <p:txBody>
          <a:bodyPr/>
          <a:lstStyle/>
          <a:p>
            <a:endParaRPr lang="en-US"/>
          </a:p>
        </p:txBody>
      </p:sp>
      <p:sp>
        <p:nvSpPr>
          <p:cNvPr id="14" name="Text 12"/>
          <p:cNvSpPr/>
          <p:nvPr/>
        </p:nvSpPr>
        <p:spPr>
          <a:xfrm>
            <a:off x="4892040" y="1444752"/>
            <a:ext cx="1280160" cy="731520"/>
          </a:xfrm>
          <a:prstGeom prst="rect">
            <a:avLst/>
          </a:prstGeom>
          <a:noFill/>
          <a:ln/>
        </p:spPr>
        <p:txBody>
          <a:bodyPr wrap="square" lIns="50800" tIns="50800" rIns="50800" bIns="50800" rtlCol="0" anchor="ctr"/>
          <a:lstStyle/>
          <a:p>
            <a:pPr marL="0" indent="0" algn="ctr">
              <a:buNone/>
            </a:pPr>
            <a:r>
              <a:rPr lang="en-US" sz="950" b="1" dirty="0">
                <a:solidFill>
                  <a:srgbClr val="4A5568"/>
                </a:solidFill>
                <a:latin typeface="Calibri" pitchFamily="34" charset="0"/>
                <a:ea typeface="Calibri" pitchFamily="34" charset="-122"/>
                <a:cs typeface="Calibri" pitchFamily="34" charset="-120"/>
              </a:rPr>
              <a:t>Knowledge Base</a:t>
            </a:r>
            <a:endParaRPr lang="en-US" sz="950" dirty="0"/>
          </a:p>
        </p:txBody>
      </p:sp>
      <p:sp>
        <p:nvSpPr>
          <p:cNvPr id="15" name="Text 13"/>
          <p:cNvSpPr/>
          <p:nvPr/>
        </p:nvSpPr>
        <p:spPr>
          <a:xfrm>
            <a:off x="6217920" y="1444752"/>
            <a:ext cx="2606040" cy="731520"/>
          </a:xfrm>
          <a:prstGeom prst="rect">
            <a:avLst/>
          </a:prstGeom>
          <a:noFill/>
          <a:ln/>
        </p:spPr>
        <p:txBody>
          <a:bodyPr wrap="square" lIns="76200" tIns="76200" rIns="76200" bIns="76200" rtlCol="0" anchor="ctr"/>
          <a:lstStyle/>
          <a:p>
            <a:pPr marL="0" indent="0">
              <a:buNone/>
            </a:pPr>
            <a:r>
              <a:rPr lang="en-US" sz="950" dirty="0">
                <a:solidFill>
                  <a:srgbClr val="4A5568"/>
                </a:solidFill>
                <a:latin typeface="Calibri" pitchFamily="34" charset="0"/>
                <a:ea typeface="Calibri" pitchFamily="34" charset="-122"/>
                <a:cs typeface="Calibri" pitchFamily="34" charset="-120"/>
              </a:rPr>
              <a:t>Vehicle systems: engine, brakes, transmission, electrical, cooling, exhaust, suspension</a:t>
            </a:r>
            <a:endParaRPr lang="en-US" sz="950" dirty="0"/>
          </a:p>
        </p:txBody>
      </p:sp>
      <p:sp>
        <p:nvSpPr>
          <p:cNvPr id="16" name="Shape 14"/>
          <p:cNvSpPr/>
          <p:nvPr/>
        </p:nvSpPr>
        <p:spPr>
          <a:xfrm>
            <a:off x="457200" y="2249424"/>
            <a:ext cx="4114800" cy="731520"/>
          </a:xfrm>
          <a:prstGeom prst="rect">
            <a:avLst/>
          </a:prstGeom>
          <a:solidFill>
            <a:srgbClr val="FFFFFF"/>
          </a:solidFill>
          <a:ln w="9525">
            <a:solidFill>
              <a:srgbClr val="E2E8F0"/>
            </a:solidFill>
            <a:prstDash val="solid"/>
          </a:ln>
        </p:spPr>
        <p:txBody>
          <a:bodyPr/>
          <a:lstStyle/>
          <a:p>
            <a:endParaRPr lang="en-US"/>
          </a:p>
        </p:txBody>
      </p:sp>
      <p:sp>
        <p:nvSpPr>
          <p:cNvPr id="17" name="Shape 15"/>
          <p:cNvSpPr/>
          <p:nvPr/>
        </p:nvSpPr>
        <p:spPr>
          <a:xfrm>
            <a:off x="457200" y="2249424"/>
            <a:ext cx="1371600" cy="731520"/>
          </a:xfrm>
          <a:prstGeom prst="rect">
            <a:avLst/>
          </a:prstGeom>
          <a:solidFill>
            <a:srgbClr val="F0F2F5"/>
          </a:solidFill>
          <a:ln w="9525">
            <a:solidFill>
              <a:srgbClr val="E2E8F0"/>
            </a:solidFill>
            <a:prstDash val="solid"/>
          </a:ln>
        </p:spPr>
        <p:txBody>
          <a:bodyPr/>
          <a:lstStyle/>
          <a:p>
            <a:endParaRPr lang="en-US"/>
          </a:p>
        </p:txBody>
      </p:sp>
      <p:sp>
        <p:nvSpPr>
          <p:cNvPr id="18" name="Shape 16"/>
          <p:cNvSpPr/>
          <p:nvPr/>
        </p:nvSpPr>
        <p:spPr>
          <a:xfrm>
            <a:off x="457200" y="2249424"/>
            <a:ext cx="54864" cy="731520"/>
          </a:xfrm>
          <a:prstGeom prst="rect">
            <a:avLst/>
          </a:prstGeom>
          <a:solidFill>
            <a:srgbClr val="9B1C1C"/>
          </a:solidFill>
          <a:ln w="12700">
            <a:solidFill>
              <a:srgbClr val="9B1C1C"/>
            </a:solidFill>
            <a:prstDash val="solid"/>
          </a:ln>
        </p:spPr>
        <p:txBody>
          <a:bodyPr/>
          <a:lstStyle/>
          <a:p>
            <a:endParaRPr lang="en-US"/>
          </a:p>
        </p:txBody>
      </p:sp>
      <p:sp>
        <p:nvSpPr>
          <p:cNvPr id="19" name="Text 17"/>
          <p:cNvSpPr/>
          <p:nvPr/>
        </p:nvSpPr>
        <p:spPr>
          <a:xfrm>
            <a:off x="548640" y="2249424"/>
            <a:ext cx="1280160" cy="731520"/>
          </a:xfrm>
          <a:prstGeom prst="rect">
            <a:avLst/>
          </a:prstGeom>
          <a:noFill/>
          <a:ln/>
        </p:spPr>
        <p:txBody>
          <a:bodyPr wrap="square" lIns="50800" tIns="50800" rIns="50800" bIns="50800" rtlCol="0" anchor="ctr"/>
          <a:lstStyle/>
          <a:p>
            <a:pPr marL="0" indent="0" algn="ctr">
              <a:buNone/>
            </a:pPr>
            <a:r>
              <a:rPr lang="en-US" sz="950" b="1" dirty="0">
                <a:solidFill>
                  <a:srgbClr val="4A5568"/>
                </a:solidFill>
                <a:latin typeface="Calibri" pitchFamily="34" charset="0"/>
                <a:ea typeface="Calibri" pitchFamily="34" charset="-122"/>
                <a:cs typeface="Calibri" pitchFamily="34" charset="-120"/>
              </a:rPr>
              <a:t>Tone</a:t>
            </a:r>
            <a:endParaRPr lang="en-US" sz="950" dirty="0"/>
          </a:p>
        </p:txBody>
      </p:sp>
      <p:sp>
        <p:nvSpPr>
          <p:cNvPr id="20" name="Text 18"/>
          <p:cNvSpPr/>
          <p:nvPr/>
        </p:nvSpPr>
        <p:spPr>
          <a:xfrm>
            <a:off x="1874520" y="2249424"/>
            <a:ext cx="2606040" cy="731520"/>
          </a:xfrm>
          <a:prstGeom prst="rect">
            <a:avLst/>
          </a:prstGeom>
          <a:noFill/>
          <a:ln/>
        </p:spPr>
        <p:txBody>
          <a:bodyPr wrap="square" lIns="76200" tIns="76200" rIns="76200" bIns="76200" rtlCol="0" anchor="ctr"/>
          <a:lstStyle/>
          <a:p>
            <a:pPr marL="0" indent="0">
              <a:buNone/>
            </a:pPr>
            <a:r>
              <a:rPr lang="en-US" sz="950" dirty="0">
                <a:solidFill>
                  <a:srgbClr val="4A5568"/>
                </a:solidFill>
                <a:latin typeface="Calibri" pitchFamily="34" charset="0"/>
                <a:ea typeface="Calibri" pitchFamily="34" charset="-122"/>
                <a:cs typeface="Calibri" pitchFamily="34" charset="-120"/>
              </a:rPr>
              <a:t>Calm, friendly, non-alarmist — honest about urgency without causing panic</a:t>
            </a:r>
            <a:endParaRPr lang="en-US" sz="950" dirty="0"/>
          </a:p>
        </p:txBody>
      </p:sp>
      <p:sp>
        <p:nvSpPr>
          <p:cNvPr id="21" name="Shape 19"/>
          <p:cNvSpPr/>
          <p:nvPr/>
        </p:nvSpPr>
        <p:spPr>
          <a:xfrm>
            <a:off x="4800600" y="2249424"/>
            <a:ext cx="4114800" cy="731520"/>
          </a:xfrm>
          <a:prstGeom prst="rect">
            <a:avLst/>
          </a:prstGeom>
          <a:solidFill>
            <a:srgbClr val="FFFFFF"/>
          </a:solidFill>
          <a:ln w="9525">
            <a:solidFill>
              <a:srgbClr val="E2E8F0"/>
            </a:solidFill>
            <a:prstDash val="solid"/>
          </a:ln>
        </p:spPr>
        <p:txBody>
          <a:bodyPr/>
          <a:lstStyle/>
          <a:p>
            <a:endParaRPr lang="en-US"/>
          </a:p>
        </p:txBody>
      </p:sp>
      <p:sp>
        <p:nvSpPr>
          <p:cNvPr id="22" name="Shape 20"/>
          <p:cNvSpPr/>
          <p:nvPr/>
        </p:nvSpPr>
        <p:spPr>
          <a:xfrm>
            <a:off x="4800600" y="2249424"/>
            <a:ext cx="1371600" cy="731520"/>
          </a:xfrm>
          <a:prstGeom prst="rect">
            <a:avLst/>
          </a:prstGeom>
          <a:solidFill>
            <a:srgbClr val="F0F2F5"/>
          </a:solidFill>
          <a:ln w="9525">
            <a:solidFill>
              <a:srgbClr val="E2E8F0"/>
            </a:solidFill>
            <a:prstDash val="solid"/>
          </a:ln>
        </p:spPr>
        <p:txBody>
          <a:bodyPr/>
          <a:lstStyle/>
          <a:p>
            <a:endParaRPr lang="en-US"/>
          </a:p>
        </p:txBody>
      </p:sp>
      <p:sp>
        <p:nvSpPr>
          <p:cNvPr id="23" name="Shape 21"/>
          <p:cNvSpPr/>
          <p:nvPr/>
        </p:nvSpPr>
        <p:spPr>
          <a:xfrm>
            <a:off x="4800600" y="2249424"/>
            <a:ext cx="54864" cy="731520"/>
          </a:xfrm>
          <a:prstGeom prst="rect">
            <a:avLst/>
          </a:prstGeom>
          <a:solidFill>
            <a:srgbClr val="9B1C1C"/>
          </a:solidFill>
          <a:ln w="12700">
            <a:solidFill>
              <a:srgbClr val="9B1C1C"/>
            </a:solidFill>
            <a:prstDash val="solid"/>
          </a:ln>
        </p:spPr>
        <p:txBody>
          <a:bodyPr/>
          <a:lstStyle/>
          <a:p>
            <a:endParaRPr lang="en-US"/>
          </a:p>
        </p:txBody>
      </p:sp>
      <p:sp>
        <p:nvSpPr>
          <p:cNvPr id="24" name="Text 22"/>
          <p:cNvSpPr/>
          <p:nvPr/>
        </p:nvSpPr>
        <p:spPr>
          <a:xfrm>
            <a:off x="4892040" y="2249424"/>
            <a:ext cx="1280160" cy="731520"/>
          </a:xfrm>
          <a:prstGeom prst="rect">
            <a:avLst/>
          </a:prstGeom>
          <a:noFill/>
          <a:ln/>
        </p:spPr>
        <p:txBody>
          <a:bodyPr wrap="square" lIns="50800" tIns="50800" rIns="50800" bIns="50800" rtlCol="0" anchor="ctr"/>
          <a:lstStyle/>
          <a:p>
            <a:pPr marL="0" indent="0" algn="ctr">
              <a:buNone/>
            </a:pPr>
            <a:r>
              <a:rPr lang="en-US" sz="950" b="1" dirty="0">
                <a:solidFill>
                  <a:srgbClr val="4A5568"/>
                </a:solidFill>
                <a:latin typeface="Calibri" pitchFamily="34" charset="0"/>
                <a:ea typeface="Calibri" pitchFamily="34" charset="-122"/>
                <a:cs typeface="Calibri" pitchFamily="34" charset="-120"/>
              </a:rPr>
              <a:t>Conversation Flow</a:t>
            </a:r>
            <a:endParaRPr lang="en-US" sz="950" dirty="0"/>
          </a:p>
        </p:txBody>
      </p:sp>
      <p:sp>
        <p:nvSpPr>
          <p:cNvPr id="25" name="Text 23"/>
          <p:cNvSpPr/>
          <p:nvPr/>
        </p:nvSpPr>
        <p:spPr>
          <a:xfrm>
            <a:off x="6217920" y="2249424"/>
            <a:ext cx="2606040" cy="731520"/>
          </a:xfrm>
          <a:prstGeom prst="rect">
            <a:avLst/>
          </a:prstGeom>
          <a:noFill/>
          <a:ln/>
        </p:spPr>
        <p:txBody>
          <a:bodyPr wrap="square" lIns="76200" tIns="76200" rIns="76200" bIns="76200" rtlCol="0" anchor="ctr"/>
          <a:lstStyle/>
          <a:p>
            <a:pPr marL="0" indent="0">
              <a:buNone/>
            </a:pPr>
            <a:r>
              <a:rPr lang="en-US" sz="950" dirty="0">
                <a:solidFill>
                  <a:srgbClr val="4A5568"/>
                </a:solidFill>
                <a:latin typeface="Calibri" pitchFamily="34" charset="0"/>
                <a:ea typeface="Calibri" pitchFamily="34" charset="-122"/>
                <a:cs typeface="Calibri" pitchFamily="34" charset="-120"/>
              </a:rPr>
              <a:t>Greet → Gather year/make/model + symptom → Ask follow-ups → Deliver triage summary</a:t>
            </a:r>
            <a:endParaRPr lang="en-US" sz="950" dirty="0"/>
          </a:p>
        </p:txBody>
      </p:sp>
      <p:sp>
        <p:nvSpPr>
          <p:cNvPr id="26" name="Shape 24"/>
          <p:cNvSpPr/>
          <p:nvPr/>
        </p:nvSpPr>
        <p:spPr>
          <a:xfrm>
            <a:off x="457200" y="3054096"/>
            <a:ext cx="4114800" cy="731520"/>
          </a:xfrm>
          <a:prstGeom prst="rect">
            <a:avLst/>
          </a:prstGeom>
          <a:solidFill>
            <a:srgbClr val="FFFFFF"/>
          </a:solidFill>
          <a:ln w="9525">
            <a:solidFill>
              <a:srgbClr val="E2E8F0"/>
            </a:solidFill>
            <a:prstDash val="solid"/>
          </a:ln>
        </p:spPr>
        <p:txBody>
          <a:bodyPr/>
          <a:lstStyle/>
          <a:p>
            <a:endParaRPr lang="en-US"/>
          </a:p>
        </p:txBody>
      </p:sp>
      <p:sp>
        <p:nvSpPr>
          <p:cNvPr id="27" name="Shape 25"/>
          <p:cNvSpPr/>
          <p:nvPr/>
        </p:nvSpPr>
        <p:spPr>
          <a:xfrm>
            <a:off x="457200" y="3054096"/>
            <a:ext cx="1371600" cy="731520"/>
          </a:xfrm>
          <a:prstGeom prst="rect">
            <a:avLst/>
          </a:prstGeom>
          <a:solidFill>
            <a:srgbClr val="F0F2F5"/>
          </a:solidFill>
          <a:ln w="9525">
            <a:solidFill>
              <a:srgbClr val="E2E8F0"/>
            </a:solidFill>
            <a:prstDash val="solid"/>
          </a:ln>
        </p:spPr>
        <p:txBody>
          <a:bodyPr/>
          <a:lstStyle/>
          <a:p>
            <a:endParaRPr lang="en-US"/>
          </a:p>
        </p:txBody>
      </p:sp>
      <p:sp>
        <p:nvSpPr>
          <p:cNvPr id="28" name="Shape 26"/>
          <p:cNvSpPr/>
          <p:nvPr/>
        </p:nvSpPr>
        <p:spPr>
          <a:xfrm>
            <a:off x="457200" y="3054096"/>
            <a:ext cx="54864" cy="731520"/>
          </a:xfrm>
          <a:prstGeom prst="rect">
            <a:avLst/>
          </a:prstGeom>
          <a:solidFill>
            <a:srgbClr val="9B1C1C"/>
          </a:solidFill>
          <a:ln w="12700">
            <a:solidFill>
              <a:srgbClr val="9B1C1C"/>
            </a:solidFill>
            <a:prstDash val="solid"/>
          </a:ln>
        </p:spPr>
        <p:txBody>
          <a:bodyPr/>
          <a:lstStyle/>
          <a:p>
            <a:endParaRPr lang="en-US"/>
          </a:p>
        </p:txBody>
      </p:sp>
      <p:sp>
        <p:nvSpPr>
          <p:cNvPr id="29" name="Text 27"/>
          <p:cNvSpPr/>
          <p:nvPr/>
        </p:nvSpPr>
        <p:spPr>
          <a:xfrm>
            <a:off x="548640" y="3054096"/>
            <a:ext cx="1280160" cy="731520"/>
          </a:xfrm>
          <a:prstGeom prst="rect">
            <a:avLst/>
          </a:prstGeom>
          <a:noFill/>
          <a:ln/>
        </p:spPr>
        <p:txBody>
          <a:bodyPr wrap="square" lIns="50800" tIns="50800" rIns="50800" bIns="50800" rtlCol="0" anchor="ctr"/>
          <a:lstStyle/>
          <a:p>
            <a:pPr marL="0" indent="0" algn="ctr">
              <a:buNone/>
            </a:pPr>
            <a:r>
              <a:rPr lang="en-US" sz="950" b="1" dirty="0">
                <a:solidFill>
                  <a:srgbClr val="4A5568"/>
                </a:solidFill>
                <a:latin typeface="Calibri" pitchFamily="34" charset="0"/>
                <a:ea typeface="Calibri" pitchFamily="34" charset="-122"/>
                <a:cs typeface="Calibri" pitchFamily="34" charset="-120"/>
              </a:rPr>
              <a:t>Structure</a:t>
            </a:r>
            <a:endParaRPr lang="en-US" sz="950" dirty="0"/>
          </a:p>
        </p:txBody>
      </p:sp>
      <p:sp>
        <p:nvSpPr>
          <p:cNvPr id="30" name="Text 28"/>
          <p:cNvSpPr/>
          <p:nvPr/>
        </p:nvSpPr>
        <p:spPr>
          <a:xfrm>
            <a:off x="1874520" y="3054096"/>
            <a:ext cx="2606040" cy="731520"/>
          </a:xfrm>
          <a:prstGeom prst="rect">
            <a:avLst/>
          </a:prstGeom>
          <a:noFill/>
          <a:ln/>
        </p:spPr>
        <p:txBody>
          <a:bodyPr wrap="square" lIns="76200" tIns="76200" rIns="76200" bIns="76200" rtlCol="0" anchor="ctr"/>
          <a:lstStyle/>
          <a:p>
            <a:pPr marL="0" indent="0">
              <a:buNone/>
            </a:pPr>
            <a:r>
              <a:rPr lang="en-US" sz="950" dirty="0">
                <a:solidFill>
                  <a:srgbClr val="4A5568"/>
                </a:solidFill>
                <a:latin typeface="Calibri" pitchFamily="34" charset="0"/>
                <a:ea typeface="Calibri" pitchFamily="34" charset="-122"/>
                <a:cs typeface="Calibri" pitchFamily="34" charset="-120"/>
              </a:rPr>
              <a:t>Loose but guided: gather info first, then triage, then ask if anything else</a:t>
            </a:r>
            <a:endParaRPr lang="en-US" sz="950" dirty="0"/>
          </a:p>
        </p:txBody>
      </p:sp>
      <p:sp>
        <p:nvSpPr>
          <p:cNvPr id="31" name="Shape 29"/>
          <p:cNvSpPr/>
          <p:nvPr/>
        </p:nvSpPr>
        <p:spPr>
          <a:xfrm>
            <a:off x="4800600" y="3054096"/>
            <a:ext cx="4114800" cy="731520"/>
          </a:xfrm>
          <a:prstGeom prst="rect">
            <a:avLst/>
          </a:prstGeom>
          <a:solidFill>
            <a:srgbClr val="FFFFFF"/>
          </a:solidFill>
          <a:ln w="9525">
            <a:solidFill>
              <a:srgbClr val="E2E8F0"/>
            </a:solidFill>
            <a:prstDash val="solid"/>
          </a:ln>
        </p:spPr>
        <p:txBody>
          <a:bodyPr/>
          <a:lstStyle/>
          <a:p>
            <a:endParaRPr lang="en-US"/>
          </a:p>
        </p:txBody>
      </p:sp>
      <p:sp>
        <p:nvSpPr>
          <p:cNvPr id="32" name="Shape 30"/>
          <p:cNvSpPr/>
          <p:nvPr/>
        </p:nvSpPr>
        <p:spPr>
          <a:xfrm>
            <a:off x="4800600" y="3054096"/>
            <a:ext cx="1371600" cy="731520"/>
          </a:xfrm>
          <a:prstGeom prst="rect">
            <a:avLst/>
          </a:prstGeom>
          <a:solidFill>
            <a:srgbClr val="F0F2F5"/>
          </a:solidFill>
          <a:ln w="9525">
            <a:solidFill>
              <a:srgbClr val="E2E8F0"/>
            </a:solidFill>
            <a:prstDash val="solid"/>
          </a:ln>
        </p:spPr>
        <p:txBody>
          <a:bodyPr/>
          <a:lstStyle/>
          <a:p>
            <a:endParaRPr lang="en-US"/>
          </a:p>
        </p:txBody>
      </p:sp>
      <p:sp>
        <p:nvSpPr>
          <p:cNvPr id="33" name="Shape 31"/>
          <p:cNvSpPr/>
          <p:nvPr/>
        </p:nvSpPr>
        <p:spPr>
          <a:xfrm>
            <a:off x="4800600" y="3054096"/>
            <a:ext cx="54864" cy="731520"/>
          </a:xfrm>
          <a:prstGeom prst="rect">
            <a:avLst/>
          </a:prstGeom>
          <a:solidFill>
            <a:srgbClr val="9B1C1C"/>
          </a:solidFill>
          <a:ln w="12700">
            <a:solidFill>
              <a:srgbClr val="9B1C1C"/>
            </a:solidFill>
            <a:prstDash val="solid"/>
          </a:ln>
        </p:spPr>
        <p:txBody>
          <a:bodyPr/>
          <a:lstStyle/>
          <a:p>
            <a:endParaRPr lang="en-US"/>
          </a:p>
        </p:txBody>
      </p:sp>
      <p:sp>
        <p:nvSpPr>
          <p:cNvPr id="34" name="Text 32"/>
          <p:cNvSpPr/>
          <p:nvPr/>
        </p:nvSpPr>
        <p:spPr>
          <a:xfrm>
            <a:off x="4892040" y="3054096"/>
            <a:ext cx="1280160" cy="731520"/>
          </a:xfrm>
          <a:prstGeom prst="rect">
            <a:avLst/>
          </a:prstGeom>
          <a:noFill/>
          <a:ln/>
        </p:spPr>
        <p:txBody>
          <a:bodyPr wrap="square" lIns="50800" tIns="50800" rIns="50800" bIns="50800" rtlCol="0" anchor="ctr"/>
          <a:lstStyle/>
          <a:p>
            <a:pPr marL="0" indent="0" algn="ctr">
              <a:buNone/>
            </a:pPr>
            <a:r>
              <a:rPr lang="en-US" sz="950" b="1" dirty="0">
                <a:solidFill>
                  <a:srgbClr val="4A5568"/>
                </a:solidFill>
                <a:latin typeface="Calibri" pitchFamily="34" charset="0"/>
                <a:ea typeface="Calibri" pitchFamily="34" charset="-122"/>
                <a:cs typeface="Calibri" pitchFamily="34" charset="-120"/>
              </a:rPr>
              <a:t>Wrap-up</a:t>
            </a:r>
            <a:endParaRPr lang="en-US" sz="950" dirty="0"/>
          </a:p>
        </p:txBody>
      </p:sp>
      <p:sp>
        <p:nvSpPr>
          <p:cNvPr id="35" name="Text 33"/>
          <p:cNvSpPr/>
          <p:nvPr/>
        </p:nvSpPr>
        <p:spPr>
          <a:xfrm>
            <a:off x="6217920" y="3054096"/>
            <a:ext cx="2606040" cy="731520"/>
          </a:xfrm>
          <a:prstGeom prst="rect">
            <a:avLst/>
          </a:prstGeom>
          <a:noFill/>
          <a:ln/>
        </p:spPr>
        <p:txBody>
          <a:bodyPr wrap="square" lIns="76200" tIns="76200" rIns="76200" bIns="76200" rtlCol="0" anchor="ctr"/>
          <a:lstStyle/>
          <a:p>
            <a:pPr marL="0" indent="0">
              <a:buNone/>
            </a:pPr>
            <a:r>
              <a:rPr lang="en-US" sz="950" dirty="0">
                <a:solidFill>
                  <a:srgbClr val="4A5568"/>
                </a:solidFill>
                <a:latin typeface="Calibri" pitchFamily="34" charset="0"/>
                <a:ea typeface="Calibri" pitchFamily="34" charset="-122"/>
                <a:cs typeface="Calibri" pitchFamily="34" charset="-120"/>
              </a:rPr>
              <a:t>Summarize issue category + urgency + next steps; always ask 'Is there anything else?'</a:t>
            </a:r>
            <a:endParaRPr lang="en-US" sz="950" dirty="0"/>
          </a:p>
        </p:txBody>
      </p:sp>
      <p:sp>
        <p:nvSpPr>
          <p:cNvPr id="36" name="Shape 34"/>
          <p:cNvSpPr/>
          <p:nvPr/>
        </p:nvSpPr>
        <p:spPr>
          <a:xfrm>
            <a:off x="457200" y="3858768"/>
            <a:ext cx="4114800" cy="731520"/>
          </a:xfrm>
          <a:prstGeom prst="rect">
            <a:avLst/>
          </a:prstGeom>
          <a:solidFill>
            <a:srgbClr val="FFFFFF"/>
          </a:solidFill>
          <a:ln w="9525">
            <a:solidFill>
              <a:srgbClr val="E2E8F0"/>
            </a:solidFill>
            <a:prstDash val="solid"/>
          </a:ln>
        </p:spPr>
        <p:txBody>
          <a:bodyPr/>
          <a:lstStyle/>
          <a:p>
            <a:endParaRPr lang="en-US"/>
          </a:p>
        </p:txBody>
      </p:sp>
      <p:sp>
        <p:nvSpPr>
          <p:cNvPr id="37" name="Shape 35"/>
          <p:cNvSpPr/>
          <p:nvPr/>
        </p:nvSpPr>
        <p:spPr>
          <a:xfrm>
            <a:off x="457200" y="3858768"/>
            <a:ext cx="1371600" cy="731520"/>
          </a:xfrm>
          <a:prstGeom prst="rect">
            <a:avLst/>
          </a:prstGeom>
          <a:solidFill>
            <a:srgbClr val="F0F2F5"/>
          </a:solidFill>
          <a:ln w="9525">
            <a:solidFill>
              <a:srgbClr val="E2E8F0"/>
            </a:solidFill>
            <a:prstDash val="solid"/>
          </a:ln>
        </p:spPr>
        <p:txBody>
          <a:bodyPr/>
          <a:lstStyle/>
          <a:p>
            <a:endParaRPr lang="en-US"/>
          </a:p>
        </p:txBody>
      </p:sp>
      <p:sp>
        <p:nvSpPr>
          <p:cNvPr id="38" name="Shape 36"/>
          <p:cNvSpPr/>
          <p:nvPr/>
        </p:nvSpPr>
        <p:spPr>
          <a:xfrm>
            <a:off x="457200" y="3858768"/>
            <a:ext cx="54864" cy="731520"/>
          </a:xfrm>
          <a:prstGeom prst="rect">
            <a:avLst/>
          </a:prstGeom>
          <a:solidFill>
            <a:srgbClr val="9B1C1C"/>
          </a:solidFill>
          <a:ln w="12700">
            <a:solidFill>
              <a:srgbClr val="9B1C1C"/>
            </a:solidFill>
            <a:prstDash val="solid"/>
          </a:ln>
        </p:spPr>
        <p:txBody>
          <a:bodyPr/>
          <a:lstStyle/>
          <a:p>
            <a:endParaRPr lang="en-US"/>
          </a:p>
        </p:txBody>
      </p:sp>
      <p:sp>
        <p:nvSpPr>
          <p:cNvPr id="39" name="Text 37"/>
          <p:cNvSpPr/>
          <p:nvPr/>
        </p:nvSpPr>
        <p:spPr>
          <a:xfrm>
            <a:off x="548640" y="3858768"/>
            <a:ext cx="1280160" cy="731520"/>
          </a:xfrm>
          <a:prstGeom prst="rect">
            <a:avLst/>
          </a:prstGeom>
          <a:noFill/>
          <a:ln/>
        </p:spPr>
        <p:txBody>
          <a:bodyPr wrap="square" lIns="50800" tIns="50800" rIns="50800" bIns="50800" rtlCol="0" anchor="ctr"/>
          <a:lstStyle/>
          <a:p>
            <a:pPr marL="0" indent="0" algn="ctr">
              <a:buNone/>
            </a:pPr>
            <a:r>
              <a:rPr lang="en-US" sz="950" b="1" dirty="0">
                <a:solidFill>
                  <a:srgbClr val="4A5568"/>
                </a:solidFill>
                <a:latin typeface="Calibri" pitchFamily="34" charset="0"/>
                <a:ea typeface="Calibri" pitchFamily="34" charset="-122"/>
                <a:cs typeface="Calibri" pitchFamily="34" charset="-120"/>
              </a:rPr>
              <a:t>Not Allowed</a:t>
            </a:r>
            <a:endParaRPr lang="en-US" sz="950" dirty="0"/>
          </a:p>
        </p:txBody>
      </p:sp>
      <p:sp>
        <p:nvSpPr>
          <p:cNvPr id="40" name="Text 38"/>
          <p:cNvSpPr/>
          <p:nvPr/>
        </p:nvSpPr>
        <p:spPr>
          <a:xfrm>
            <a:off x="1874520" y="3858768"/>
            <a:ext cx="2606040" cy="731520"/>
          </a:xfrm>
          <a:prstGeom prst="rect">
            <a:avLst/>
          </a:prstGeom>
          <a:noFill/>
          <a:ln/>
        </p:spPr>
        <p:txBody>
          <a:bodyPr wrap="square" lIns="76200" tIns="76200" rIns="76200" bIns="76200" rtlCol="0" anchor="ctr"/>
          <a:lstStyle/>
          <a:p>
            <a:pPr marL="0" indent="0">
              <a:buNone/>
            </a:pPr>
            <a:r>
              <a:rPr lang="en-US" sz="950" dirty="0">
                <a:solidFill>
                  <a:srgbClr val="4A5568"/>
                </a:solidFill>
                <a:latin typeface="Calibri" pitchFamily="34" charset="0"/>
                <a:ea typeface="Calibri" pitchFamily="34" charset="-122"/>
                <a:cs typeface="Calibri" pitchFamily="34" charset="-120"/>
              </a:rPr>
              <a:t>Definitive diagnoses, repair cost estimates, safety guarantees, off-topic responses</a:t>
            </a:r>
            <a:endParaRPr lang="en-US" sz="950" dirty="0"/>
          </a:p>
        </p:txBody>
      </p:sp>
      <p:sp>
        <p:nvSpPr>
          <p:cNvPr id="41" name="Shape 39"/>
          <p:cNvSpPr/>
          <p:nvPr/>
        </p:nvSpPr>
        <p:spPr>
          <a:xfrm>
            <a:off x="4800600" y="3858768"/>
            <a:ext cx="4114800" cy="731520"/>
          </a:xfrm>
          <a:prstGeom prst="rect">
            <a:avLst/>
          </a:prstGeom>
          <a:solidFill>
            <a:srgbClr val="FFFFFF"/>
          </a:solidFill>
          <a:ln w="9525">
            <a:solidFill>
              <a:srgbClr val="E2E8F0"/>
            </a:solidFill>
            <a:prstDash val="solid"/>
          </a:ln>
        </p:spPr>
        <p:txBody>
          <a:bodyPr/>
          <a:lstStyle/>
          <a:p>
            <a:endParaRPr lang="en-US"/>
          </a:p>
        </p:txBody>
      </p:sp>
      <p:sp>
        <p:nvSpPr>
          <p:cNvPr id="42" name="Shape 40"/>
          <p:cNvSpPr/>
          <p:nvPr/>
        </p:nvSpPr>
        <p:spPr>
          <a:xfrm>
            <a:off x="4800600" y="3858768"/>
            <a:ext cx="1371600" cy="731520"/>
          </a:xfrm>
          <a:prstGeom prst="rect">
            <a:avLst/>
          </a:prstGeom>
          <a:solidFill>
            <a:srgbClr val="F0F2F5"/>
          </a:solidFill>
          <a:ln w="9525">
            <a:solidFill>
              <a:srgbClr val="E2E8F0"/>
            </a:solidFill>
            <a:prstDash val="solid"/>
          </a:ln>
        </p:spPr>
        <p:txBody>
          <a:bodyPr/>
          <a:lstStyle/>
          <a:p>
            <a:endParaRPr lang="en-US"/>
          </a:p>
        </p:txBody>
      </p:sp>
      <p:sp>
        <p:nvSpPr>
          <p:cNvPr id="43" name="Shape 41"/>
          <p:cNvSpPr/>
          <p:nvPr/>
        </p:nvSpPr>
        <p:spPr>
          <a:xfrm>
            <a:off x="4800600" y="3858768"/>
            <a:ext cx="54864" cy="731520"/>
          </a:xfrm>
          <a:prstGeom prst="rect">
            <a:avLst/>
          </a:prstGeom>
          <a:solidFill>
            <a:srgbClr val="9B1C1C"/>
          </a:solidFill>
          <a:ln w="12700">
            <a:solidFill>
              <a:srgbClr val="9B1C1C"/>
            </a:solidFill>
            <a:prstDash val="solid"/>
          </a:ln>
        </p:spPr>
        <p:txBody>
          <a:bodyPr/>
          <a:lstStyle/>
          <a:p>
            <a:endParaRPr lang="en-US"/>
          </a:p>
        </p:txBody>
      </p:sp>
      <p:sp>
        <p:nvSpPr>
          <p:cNvPr id="44" name="Text 42"/>
          <p:cNvSpPr/>
          <p:nvPr/>
        </p:nvSpPr>
        <p:spPr>
          <a:xfrm>
            <a:off x="4892040" y="3858768"/>
            <a:ext cx="1280160" cy="731520"/>
          </a:xfrm>
          <a:prstGeom prst="rect">
            <a:avLst/>
          </a:prstGeom>
          <a:noFill/>
          <a:ln/>
        </p:spPr>
        <p:txBody>
          <a:bodyPr wrap="square" lIns="50800" tIns="50800" rIns="50800" bIns="50800" rtlCol="0" anchor="ctr"/>
          <a:lstStyle/>
          <a:p>
            <a:pPr marL="0" indent="0" algn="ctr">
              <a:buNone/>
            </a:pPr>
            <a:r>
              <a:rPr lang="en-US" sz="950" b="1" dirty="0">
                <a:solidFill>
                  <a:srgbClr val="4A5568"/>
                </a:solidFill>
                <a:latin typeface="Calibri" pitchFamily="34" charset="0"/>
                <a:ea typeface="Calibri" pitchFamily="34" charset="-122"/>
                <a:cs typeface="Calibri" pitchFamily="34" charset="-120"/>
              </a:rPr>
              <a:t>Success Criteria</a:t>
            </a:r>
            <a:endParaRPr lang="en-US" sz="950" dirty="0"/>
          </a:p>
        </p:txBody>
      </p:sp>
      <p:sp>
        <p:nvSpPr>
          <p:cNvPr id="45" name="Text 43"/>
          <p:cNvSpPr/>
          <p:nvPr/>
        </p:nvSpPr>
        <p:spPr>
          <a:xfrm>
            <a:off x="6217920" y="3858768"/>
            <a:ext cx="2606040" cy="731520"/>
          </a:xfrm>
          <a:prstGeom prst="rect">
            <a:avLst/>
          </a:prstGeom>
          <a:noFill/>
          <a:ln/>
        </p:spPr>
        <p:txBody>
          <a:bodyPr wrap="square" lIns="76200" tIns="76200" rIns="76200" bIns="76200" rtlCol="0" anchor="ctr"/>
          <a:lstStyle/>
          <a:p>
            <a:pPr marL="0" indent="0">
              <a:buNone/>
            </a:pPr>
            <a:r>
              <a:rPr lang="en-US" sz="950" dirty="0">
                <a:solidFill>
                  <a:srgbClr val="4A5568"/>
                </a:solidFill>
                <a:latin typeface="Calibri" pitchFamily="34" charset="0"/>
                <a:ea typeface="Calibri" pitchFamily="34" charset="-122"/>
                <a:cs typeface="Calibri" pitchFamily="34" charset="-120"/>
              </a:rPr>
              <a:t>User understands urgency and has a clear next action after one conversation</a:t>
            </a:r>
            <a:endParaRPr lang="en-US" sz="950" dirty="0"/>
          </a:p>
        </p:txBody>
      </p:sp>
      <p:sp>
        <p:nvSpPr>
          <p:cNvPr id="46" name="Shape 44"/>
          <p:cNvSpPr/>
          <p:nvPr/>
        </p:nvSpPr>
        <p:spPr>
          <a:xfrm>
            <a:off x="457200" y="4736592"/>
            <a:ext cx="8229600" cy="0"/>
          </a:xfrm>
          <a:prstGeom prst="line">
            <a:avLst/>
          </a:prstGeom>
          <a:noFill/>
          <a:ln w="12700">
            <a:solidFill>
              <a:srgbClr val="E2E8F0"/>
            </a:solidFill>
            <a:prstDash val="solid"/>
          </a:ln>
        </p:spPr>
        <p:txBody>
          <a:bodyPr/>
          <a:lstStyle/>
          <a:p>
            <a:endParaRPr lang="en-US"/>
          </a:p>
        </p:txBody>
      </p:sp>
      <p:sp>
        <p:nvSpPr>
          <p:cNvPr id="48" name="Text 46"/>
          <p:cNvSpPr/>
          <p:nvPr/>
        </p:nvSpPr>
        <p:spPr>
          <a:xfrm>
            <a:off x="8503920" y="4773168"/>
            <a:ext cx="411480" cy="228600"/>
          </a:xfrm>
          <a:prstGeom prst="rect">
            <a:avLst/>
          </a:prstGeom>
          <a:noFill/>
          <a:ln/>
        </p:spPr>
        <p:txBody>
          <a:bodyPr wrap="square" rtlCol="0" anchor="ctr"/>
          <a:lstStyle/>
          <a:p>
            <a:pPr marL="0" indent="0" algn="r">
              <a:buNone/>
            </a:pPr>
            <a:r>
              <a:rPr lang="en-US" sz="900" dirty="0">
                <a:solidFill>
                  <a:srgbClr val="9AA3B0"/>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457200" y="256032"/>
            <a:ext cx="1371600" cy="246888"/>
          </a:xfrm>
          <a:prstGeom prst="rect">
            <a:avLst/>
          </a:prstGeom>
          <a:solidFill>
            <a:srgbClr val="2A3244"/>
          </a:solidFill>
          <a:ln w="12700">
            <a:solidFill>
              <a:srgbClr val="2A3244"/>
            </a:solidFill>
            <a:prstDash val="solid"/>
          </a:ln>
        </p:spPr>
        <p:txBody>
          <a:bodyPr/>
          <a:lstStyle/>
          <a:p>
            <a:endParaRPr lang="en-US"/>
          </a:p>
        </p:txBody>
      </p:sp>
      <p:sp>
        <p:nvSpPr>
          <p:cNvPr id="3" name="Text 1"/>
          <p:cNvSpPr/>
          <p:nvPr/>
        </p:nvSpPr>
        <p:spPr>
          <a:xfrm>
            <a:off x="457200" y="256032"/>
            <a:ext cx="1371600" cy="246888"/>
          </a:xfrm>
          <a:prstGeom prst="rect">
            <a:avLst/>
          </a:prstGeom>
          <a:noFill/>
          <a:ln/>
        </p:spPr>
        <p:txBody>
          <a:bodyPr wrap="square" lIns="0" tIns="0" rIns="0" bIns="0" rtlCol="0" anchor="ctr"/>
          <a:lstStyle/>
          <a:p>
            <a:pPr marL="0" indent="0" algn="ctr">
              <a:buNone/>
            </a:pPr>
            <a:r>
              <a:rPr lang="en-US" sz="750" b="1" dirty="0">
                <a:solidFill>
                  <a:srgbClr val="9B1C1C"/>
                </a:solidFill>
              </a:rPr>
              <a:t>SYSTEM PROMPT</a:t>
            </a:r>
            <a:endParaRPr lang="en-US" sz="750" dirty="0"/>
          </a:p>
        </p:txBody>
      </p:sp>
      <p:sp>
        <p:nvSpPr>
          <p:cNvPr id="4" name="Text 2"/>
          <p:cNvSpPr/>
          <p:nvPr/>
        </p:nvSpPr>
        <p:spPr>
          <a:xfrm>
            <a:off x="457200" y="594360"/>
            <a:ext cx="8229600" cy="658368"/>
          </a:xfrm>
          <a:prstGeom prst="rect">
            <a:avLst/>
          </a:prstGeom>
          <a:noFill/>
          <a:ln/>
        </p:spPr>
        <p:txBody>
          <a:bodyPr wrap="square"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Prototype — The System Prompt</a:t>
            </a:r>
            <a:endParaRPr lang="en-US" sz="3200" dirty="0"/>
          </a:p>
        </p:txBody>
      </p:sp>
      <p:sp>
        <p:nvSpPr>
          <p:cNvPr id="5" name="Shape 3"/>
          <p:cNvSpPr/>
          <p:nvPr/>
        </p:nvSpPr>
        <p:spPr>
          <a:xfrm>
            <a:off x="457200" y="1298448"/>
            <a:ext cx="8229600" cy="0"/>
          </a:xfrm>
          <a:prstGeom prst="line">
            <a:avLst/>
          </a:prstGeom>
          <a:noFill/>
          <a:ln w="12700">
            <a:solidFill>
              <a:srgbClr val="2A3244"/>
            </a:solidFill>
            <a:prstDash val="solid"/>
          </a:ln>
        </p:spPr>
        <p:txBody>
          <a:bodyPr/>
          <a:lstStyle/>
          <a:p>
            <a:endParaRPr lang="en-US"/>
          </a:p>
        </p:txBody>
      </p:sp>
      <p:sp>
        <p:nvSpPr>
          <p:cNvPr id="6" name="Shape 4"/>
          <p:cNvSpPr/>
          <p:nvPr/>
        </p:nvSpPr>
        <p:spPr>
          <a:xfrm>
            <a:off x="457200" y="1417320"/>
            <a:ext cx="8229600" cy="3127248"/>
          </a:xfrm>
          <a:prstGeom prst="rect">
            <a:avLst/>
          </a:prstGeom>
          <a:solidFill>
            <a:srgbClr val="111827"/>
          </a:solidFill>
          <a:ln w="9525">
            <a:solidFill>
              <a:srgbClr val="2A3244"/>
            </a:solidFill>
            <a:prstDash val="solid"/>
          </a:ln>
        </p:spPr>
        <p:txBody>
          <a:bodyPr/>
          <a:lstStyle/>
          <a:p>
            <a:endParaRPr lang="en-US"/>
          </a:p>
        </p:txBody>
      </p:sp>
      <p:sp>
        <p:nvSpPr>
          <p:cNvPr id="7" name="Text 5"/>
          <p:cNvSpPr/>
          <p:nvPr/>
        </p:nvSpPr>
        <p:spPr>
          <a:xfrm>
            <a:off x="658368" y="1536192"/>
            <a:ext cx="7827264" cy="2907792"/>
          </a:xfrm>
          <a:prstGeom prst="rect">
            <a:avLst/>
          </a:prstGeom>
          <a:noFill/>
          <a:ln/>
        </p:spPr>
        <p:txBody>
          <a:bodyPr wrap="square" rtlCol="0" anchor="t"/>
          <a:lstStyle/>
          <a:p>
            <a:pPr marL="0" indent="0">
              <a:buNone/>
            </a:pPr>
            <a:r>
              <a:rPr lang="en-US" sz="1000" b="1" dirty="0">
                <a:solidFill>
                  <a:srgbClr val="FCA5A5"/>
                </a:solidFill>
                <a:latin typeface="Consolas" pitchFamily="34" charset="0"/>
                <a:ea typeface="Consolas" pitchFamily="34" charset="-122"/>
                <a:cs typeface="Consolas" pitchFamily="34" charset="-120"/>
              </a:rPr>
              <a:t>You are A-iButler</a:t>
            </a:r>
            <a:r>
              <a:rPr lang="en-US" sz="1000" dirty="0">
                <a:solidFill>
                  <a:srgbClr val="D1D5DB"/>
                </a:solidFill>
                <a:latin typeface="Consolas" pitchFamily="34" charset="0"/>
                <a:ea typeface="Consolas" pitchFamily="34" charset="-122"/>
                <a:cs typeface="Consolas" pitchFamily="34" charset="-120"/>
              </a:rPr>
              <a:t>, a friendly and knowledgeable car issue triage assistant.
Your job is to help users describe vehicle symptoms and provide:
</a:t>
            </a:r>
            <a:r>
              <a:rPr lang="en-US" sz="1000" dirty="0">
                <a:solidFill>
                  <a:srgbClr val="FCA5A5"/>
                </a:solidFill>
                <a:latin typeface="Consolas" pitchFamily="34" charset="0"/>
                <a:ea typeface="Consolas" pitchFamily="34" charset="-122"/>
                <a:cs typeface="Consolas" pitchFamily="34" charset="-120"/>
              </a:rPr>
              <a:t>  1. Likely issue category </a:t>
            </a:r>
            <a:r>
              <a:rPr lang="en-US" sz="1000" dirty="0">
                <a:solidFill>
                  <a:srgbClr val="9CA3AF"/>
                </a:solidFill>
                <a:latin typeface="Consolas" pitchFamily="34" charset="0"/>
                <a:ea typeface="Consolas" pitchFamily="34" charset="-122"/>
                <a:cs typeface="Consolas" pitchFamily="34" charset="-120"/>
              </a:rPr>
              <a:t>(engine, brakes, transmission, electrical, cooling, exhaust, suspension)
</a:t>
            </a:r>
            <a:r>
              <a:rPr lang="en-US" sz="1000" dirty="0">
                <a:solidFill>
                  <a:srgbClr val="FCA5A5"/>
                </a:solidFill>
                <a:latin typeface="Consolas" pitchFamily="34" charset="0"/>
                <a:ea typeface="Consolas" pitchFamily="34" charset="-122"/>
                <a:cs typeface="Consolas" pitchFamily="34" charset="-120"/>
              </a:rPr>
              <a:t>  2. Urgency level: </a:t>
            </a:r>
            <a:r>
              <a:rPr lang="en-US" sz="1000" b="1" dirty="0">
                <a:solidFill>
                  <a:srgbClr val="F87171"/>
                </a:solidFill>
                <a:latin typeface="Consolas" pitchFamily="34" charset="0"/>
                <a:ea typeface="Consolas" pitchFamily="34" charset="-122"/>
                <a:cs typeface="Consolas" pitchFamily="34" charset="-120"/>
              </a:rPr>
              <a:t>URGENT</a:t>
            </a:r>
            <a:r>
              <a:rPr lang="en-US" sz="1000" dirty="0">
                <a:solidFill>
                  <a:srgbClr val="9CA3AF"/>
                </a:solidFill>
                <a:latin typeface="Consolas" pitchFamily="34" charset="0"/>
                <a:ea typeface="Consolas" pitchFamily="34" charset="-122"/>
                <a:cs typeface="Consolas" pitchFamily="34" charset="-120"/>
              </a:rPr>
              <a:t> (stop driving)  |  </a:t>
            </a:r>
            <a:r>
              <a:rPr lang="en-US" sz="1000" b="1" dirty="0">
                <a:solidFill>
                  <a:srgbClr val="FCD34D"/>
                </a:solidFill>
                <a:latin typeface="Consolas" pitchFamily="34" charset="0"/>
                <a:ea typeface="Consolas" pitchFamily="34" charset="-122"/>
                <a:cs typeface="Consolas" pitchFamily="34" charset="-120"/>
              </a:rPr>
              <a:t>SOON</a:t>
            </a:r>
            <a:r>
              <a:rPr lang="en-US" sz="1000" dirty="0">
                <a:solidFill>
                  <a:srgbClr val="9CA3AF"/>
                </a:solidFill>
                <a:latin typeface="Consolas" pitchFamily="34" charset="0"/>
                <a:ea typeface="Consolas" pitchFamily="34" charset="-122"/>
                <a:cs typeface="Consolas" pitchFamily="34" charset="-120"/>
              </a:rPr>
              <a:t> (within a week)  |  </a:t>
            </a:r>
            <a:r>
              <a:rPr lang="en-US" sz="1000" b="1" dirty="0">
                <a:solidFill>
                  <a:srgbClr val="6EE7B7"/>
                </a:solidFill>
                <a:latin typeface="Consolas" pitchFamily="34" charset="0"/>
                <a:ea typeface="Consolas" pitchFamily="34" charset="-122"/>
                <a:cs typeface="Consolas" pitchFamily="34" charset="-120"/>
              </a:rPr>
              <a:t>MONITOR
</a:t>
            </a:r>
            <a:r>
              <a:rPr lang="en-US" sz="1000" dirty="0">
                <a:solidFill>
                  <a:srgbClr val="FCA5A5"/>
                </a:solidFill>
                <a:latin typeface="Consolas" pitchFamily="34" charset="0"/>
                <a:ea typeface="Consolas" pitchFamily="34" charset="-122"/>
                <a:cs typeface="Consolas" pitchFamily="34" charset="-120"/>
              </a:rPr>
              <a:t>  3. Next diagnostic steps </a:t>
            </a:r>
            <a:r>
              <a:rPr lang="en-US" sz="1000" dirty="0">
                <a:solidFill>
                  <a:srgbClr val="9CA3AF"/>
                </a:solidFill>
                <a:latin typeface="Consolas" pitchFamily="34" charset="0"/>
                <a:ea typeface="Consolas" pitchFamily="34" charset="-122"/>
                <a:cs typeface="Consolas" pitchFamily="34" charset="-120"/>
              </a:rPr>
              <a:t>(check fluids, get error scan, visit mechanic)
</a:t>
            </a:r>
            <a:r>
              <a:rPr lang="en-US" sz="1000" b="1" dirty="0">
                <a:solidFill>
                  <a:srgbClr val="FCD34D"/>
                </a:solidFill>
                <a:latin typeface="Consolas" pitchFamily="34" charset="0"/>
                <a:ea typeface="Consolas" pitchFamily="34" charset="-122"/>
                <a:cs typeface="Consolas" pitchFamily="34" charset="-120"/>
              </a:rPr>
              <a:t>Rules:
</a:t>
            </a:r>
            <a:r>
              <a:rPr lang="en-US" sz="1000" dirty="0">
                <a:solidFill>
                  <a:srgbClr val="D1D5DB"/>
                </a:solidFill>
                <a:latin typeface="Consolas" pitchFamily="34" charset="0"/>
                <a:ea typeface="Consolas" pitchFamily="34" charset="-122"/>
                <a:cs typeface="Consolas" pitchFamily="34" charset="-120"/>
              </a:rPr>
              <a:t>  - Always ask year/make/model + symptom first
  - Ask follow-up questions before delivering triage
  - Always use </a:t>
            </a:r>
            <a:r>
              <a:rPr lang="en-US" sz="1000" dirty="0">
                <a:solidFill>
                  <a:srgbClr val="FCA5A5"/>
                </a:solidFill>
                <a:latin typeface="Consolas" pitchFamily="34" charset="0"/>
                <a:ea typeface="Consolas" pitchFamily="34" charset="-122"/>
                <a:cs typeface="Consolas" pitchFamily="34" charset="-120"/>
              </a:rPr>
              <a:t>'likely'</a:t>
            </a:r>
            <a:r>
              <a:rPr lang="en-US" sz="1000" dirty="0">
                <a:solidFill>
                  <a:srgbClr val="D1D5DB"/>
                </a:solidFill>
                <a:latin typeface="Consolas" pitchFamily="34" charset="0"/>
                <a:ea typeface="Consolas" pitchFamily="34" charset="-122"/>
                <a:cs typeface="Consolas" pitchFamily="34" charset="-120"/>
              </a:rPr>
              <a:t> or </a:t>
            </a:r>
            <a:r>
              <a:rPr lang="en-US" sz="1000" dirty="0">
                <a:solidFill>
                  <a:srgbClr val="FCA5A5"/>
                </a:solidFill>
                <a:latin typeface="Consolas" pitchFamily="34" charset="0"/>
                <a:ea typeface="Consolas" pitchFamily="34" charset="-122"/>
                <a:cs typeface="Consolas" pitchFamily="34" charset="-120"/>
              </a:rPr>
              <a:t>'possible'</a:t>
            </a:r>
            <a:r>
              <a:rPr lang="en-US" sz="1000" dirty="0">
                <a:solidFill>
                  <a:srgbClr val="D1D5DB"/>
                </a:solidFill>
                <a:latin typeface="Consolas" pitchFamily="34" charset="0"/>
                <a:ea typeface="Consolas" pitchFamily="34" charset="-122"/>
                <a:cs typeface="Consolas" pitchFamily="34" charset="-120"/>
              </a:rPr>
              <a:t> — never definitive
  - Never give cost estimates or safety guarantees
  - Always recommend a qualified mechanic
  - End every triage: </a:t>
            </a:r>
            <a:r>
              <a:rPr lang="en-US" sz="1000" dirty="0">
                <a:solidFill>
                  <a:srgbClr val="FCD34D"/>
                </a:solidFill>
                <a:latin typeface="Consolas" pitchFamily="34" charset="0"/>
                <a:ea typeface="Consolas" pitchFamily="34" charset="-122"/>
                <a:cs typeface="Consolas" pitchFamily="34" charset="-120"/>
              </a:rPr>
              <a:t>"Is there anything else about your vehicle?"</a:t>
            </a:r>
            <a:endParaRPr lang="en-US" sz="1000" dirty="0"/>
          </a:p>
        </p:txBody>
      </p:sp>
      <p:sp>
        <p:nvSpPr>
          <p:cNvPr id="8" name="Text 6"/>
          <p:cNvSpPr/>
          <p:nvPr/>
        </p:nvSpPr>
        <p:spPr>
          <a:xfrm>
            <a:off x="457200" y="4626864"/>
            <a:ext cx="8229600" cy="292608"/>
          </a:xfrm>
          <a:prstGeom prst="rect">
            <a:avLst/>
          </a:prstGeom>
          <a:noFill/>
          <a:ln/>
        </p:spPr>
        <p:txBody>
          <a:bodyPr wrap="square" rtlCol="0" anchor="ctr"/>
          <a:lstStyle/>
          <a:p>
            <a:pPr marL="0" indent="0" algn="ctr">
              <a:buNone/>
            </a:pPr>
            <a:r>
              <a:rPr lang="en-US" sz="900" i="1" dirty="0">
                <a:solidFill>
                  <a:srgbClr val="6B7280"/>
                </a:solidFill>
                <a:latin typeface="Calibri" pitchFamily="34" charset="0"/>
                <a:ea typeface="Calibri" pitchFamily="34" charset="-122"/>
                <a:cs typeface="Calibri" pitchFamily="34" charset="-120"/>
              </a:rPr>
              <a:t>The system prompt is A-iButler's intelligence layer — it defines all behavior, constraints, and conversation structure without custom model training.</a:t>
            </a:r>
            <a:endParaRPr lang="en-US" sz="900" dirty="0"/>
          </a:p>
        </p:txBody>
      </p:sp>
      <p:sp>
        <p:nvSpPr>
          <p:cNvPr id="9" name="Text 7"/>
          <p:cNvSpPr/>
          <p:nvPr/>
        </p:nvSpPr>
        <p:spPr>
          <a:xfrm>
            <a:off x="8503920" y="4773168"/>
            <a:ext cx="411480" cy="228600"/>
          </a:xfrm>
          <a:prstGeom prst="rect">
            <a:avLst/>
          </a:prstGeom>
          <a:noFill/>
          <a:ln/>
        </p:spPr>
        <p:txBody>
          <a:bodyPr wrap="square" rtlCol="0" anchor="ctr"/>
          <a:lstStyle/>
          <a:p>
            <a:pPr marL="0" indent="0" algn="r">
              <a:buNone/>
            </a:pPr>
            <a:r>
              <a:rPr lang="en-US" sz="900" dirty="0">
                <a:solidFill>
                  <a:srgbClr val="9AA3B0"/>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246888"/>
          </a:xfrm>
          <a:prstGeom prst="roundRect">
            <a:avLst>
              <a:gd name="adj" fmla="val 22222"/>
            </a:avLst>
          </a:prstGeom>
          <a:solidFill>
            <a:srgbClr val="FEF2F2"/>
          </a:solidFill>
          <a:ln w="6350">
            <a:solidFill>
              <a:srgbClr val="F87171"/>
            </a:solidFill>
            <a:prstDash val="solid"/>
          </a:ln>
        </p:spPr>
        <p:txBody>
          <a:bodyPr/>
          <a:lstStyle/>
          <a:p>
            <a:endParaRPr lang="en-US"/>
          </a:p>
        </p:txBody>
      </p:sp>
      <p:sp>
        <p:nvSpPr>
          <p:cNvPr id="3" name="Text 1"/>
          <p:cNvSpPr/>
          <p:nvPr/>
        </p:nvSpPr>
        <p:spPr>
          <a:xfrm>
            <a:off x="457200" y="274320"/>
            <a:ext cx="1371600" cy="246888"/>
          </a:xfrm>
          <a:prstGeom prst="rect">
            <a:avLst/>
          </a:prstGeom>
          <a:noFill/>
          <a:ln/>
        </p:spPr>
        <p:txBody>
          <a:bodyPr wrap="square" lIns="0" tIns="0" rIns="0" bIns="0" rtlCol="0" anchor="ctr"/>
          <a:lstStyle/>
          <a:p>
            <a:pPr marL="0" indent="0" algn="ctr">
              <a:buNone/>
            </a:pPr>
            <a:r>
              <a:rPr lang="en-US" sz="750" b="1" dirty="0">
                <a:solidFill>
                  <a:srgbClr val="9B1C1C"/>
                </a:solidFill>
              </a:rPr>
              <a:t>PHASE 5</a:t>
            </a:r>
            <a:endParaRPr lang="en-US" sz="750" dirty="0"/>
          </a:p>
        </p:txBody>
      </p:sp>
      <p:sp>
        <p:nvSpPr>
          <p:cNvPr id="4" name="Text 2"/>
          <p:cNvSpPr/>
          <p:nvPr/>
        </p:nvSpPr>
        <p:spPr>
          <a:xfrm>
            <a:off x="457200" y="621792"/>
            <a:ext cx="8229600" cy="658368"/>
          </a:xfrm>
          <a:prstGeom prst="rect">
            <a:avLst/>
          </a:prstGeom>
          <a:noFill/>
          <a:ln/>
        </p:spPr>
        <p:txBody>
          <a:bodyPr wrap="square" rtlCol="0" anchor="ctr"/>
          <a:lstStyle/>
          <a:p>
            <a:pPr marL="0" indent="0" algn="l">
              <a:buNone/>
            </a:pPr>
            <a:r>
              <a:rPr lang="en-US" sz="3200" b="1" dirty="0">
                <a:solidFill>
                  <a:srgbClr val="1A202C"/>
                </a:solidFill>
                <a:latin typeface="Georgia" pitchFamily="34" charset="0"/>
                <a:ea typeface="Georgia" pitchFamily="34" charset="-122"/>
                <a:cs typeface="Georgia" pitchFamily="34" charset="-120"/>
              </a:rPr>
              <a:t>Test — 10 Validation Scenarios</a:t>
            </a:r>
            <a:endParaRPr lang="en-US" sz="3200" dirty="0"/>
          </a:p>
        </p:txBody>
      </p:sp>
      <p:sp>
        <p:nvSpPr>
          <p:cNvPr id="5" name="Shape 3"/>
          <p:cNvSpPr/>
          <p:nvPr/>
        </p:nvSpPr>
        <p:spPr>
          <a:xfrm>
            <a:off x="457200" y="1325880"/>
            <a:ext cx="8229600" cy="0"/>
          </a:xfrm>
          <a:prstGeom prst="line">
            <a:avLst/>
          </a:prstGeom>
          <a:noFill/>
          <a:ln w="12700">
            <a:solidFill>
              <a:srgbClr val="E2E8F0"/>
            </a:solidFill>
            <a:prstDash val="solid"/>
          </a:ln>
        </p:spPr>
        <p:txBody>
          <a:bodyPr/>
          <a:lstStyle/>
          <a:p>
            <a:endParaRPr lang="en-US"/>
          </a:p>
        </p:txBody>
      </p:sp>
      <p:sp>
        <p:nvSpPr>
          <p:cNvPr id="6" name="Shape 4"/>
          <p:cNvSpPr/>
          <p:nvPr/>
        </p:nvSpPr>
        <p:spPr>
          <a:xfrm>
            <a:off x="457200" y="1444752"/>
            <a:ext cx="8229600" cy="292608"/>
          </a:xfrm>
          <a:prstGeom prst="rect">
            <a:avLst/>
          </a:prstGeom>
          <a:solidFill>
            <a:srgbClr val="1A202C"/>
          </a:solidFill>
          <a:ln w="12700">
            <a:solidFill>
              <a:srgbClr val="1A202C"/>
            </a:solidFill>
            <a:prstDash val="solid"/>
          </a:ln>
        </p:spPr>
        <p:txBody>
          <a:bodyPr/>
          <a:lstStyle/>
          <a:p>
            <a:endParaRPr lang="en-US"/>
          </a:p>
        </p:txBody>
      </p:sp>
      <p:sp>
        <p:nvSpPr>
          <p:cNvPr id="7" name="Text 5"/>
          <p:cNvSpPr/>
          <p:nvPr/>
        </p:nvSpPr>
        <p:spPr>
          <a:xfrm>
            <a:off x="548640" y="1444752"/>
            <a:ext cx="8046720" cy="292608"/>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Test Name             Scenario                             Expected Result                     Level</a:t>
            </a:r>
            <a:endParaRPr lang="en-US" sz="850" dirty="0"/>
          </a:p>
        </p:txBody>
      </p:sp>
      <p:sp>
        <p:nvSpPr>
          <p:cNvPr id="8" name="Shape 6"/>
          <p:cNvSpPr/>
          <p:nvPr/>
        </p:nvSpPr>
        <p:spPr>
          <a:xfrm>
            <a:off x="457200" y="1737360"/>
            <a:ext cx="8229600" cy="290779"/>
          </a:xfrm>
          <a:prstGeom prst="rect">
            <a:avLst/>
          </a:prstGeom>
          <a:solidFill>
            <a:srgbClr val="FFFFFF"/>
          </a:solidFill>
          <a:ln w="6350">
            <a:solidFill>
              <a:srgbClr val="E2E8F0"/>
            </a:solidFill>
            <a:prstDash val="solid"/>
          </a:ln>
        </p:spPr>
        <p:txBody>
          <a:bodyPr/>
          <a:lstStyle/>
          <a:p>
            <a:endParaRPr lang="en-US"/>
          </a:p>
        </p:txBody>
      </p:sp>
      <p:sp>
        <p:nvSpPr>
          <p:cNvPr id="9" name="Text 7"/>
          <p:cNvSpPr/>
          <p:nvPr/>
        </p:nvSpPr>
        <p:spPr>
          <a:xfrm>
            <a:off x="502920" y="1737360"/>
            <a:ext cx="347472" cy="290779"/>
          </a:xfrm>
          <a:prstGeom prst="rect">
            <a:avLst/>
          </a:prstGeom>
          <a:noFill/>
          <a:ln/>
        </p:spPr>
        <p:txBody>
          <a:bodyPr wrap="square" rtlCol="0" anchor="ctr"/>
          <a:lstStyle/>
          <a:p>
            <a:pPr marL="0" indent="0" algn="ctr">
              <a:buNone/>
            </a:pPr>
            <a:r>
              <a:rPr lang="en-US" sz="900" dirty="0">
                <a:solidFill>
                  <a:srgbClr val="9AA3B0"/>
                </a:solidFill>
                <a:latin typeface="Calibri" pitchFamily="34" charset="0"/>
                <a:ea typeface="Calibri" pitchFamily="34" charset="-122"/>
                <a:cs typeface="Calibri" pitchFamily="34" charset="-120"/>
              </a:rPr>
              <a:t>1</a:t>
            </a:r>
            <a:endParaRPr lang="en-US" sz="900" dirty="0"/>
          </a:p>
        </p:txBody>
      </p:sp>
      <p:sp>
        <p:nvSpPr>
          <p:cNvPr id="10" name="Text 8"/>
          <p:cNvSpPr/>
          <p:nvPr/>
        </p:nvSpPr>
        <p:spPr>
          <a:xfrm>
            <a:off x="868680" y="1737360"/>
            <a:ext cx="1508760" cy="290779"/>
          </a:xfrm>
          <a:prstGeom prst="rect">
            <a:avLst/>
          </a:prstGeom>
          <a:noFill/>
          <a:ln/>
        </p:spPr>
        <p:txBody>
          <a:bodyPr wrap="square"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Normal triage</a:t>
            </a:r>
            <a:endParaRPr lang="en-US" sz="900" dirty="0"/>
          </a:p>
        </p:txBody>
      </p:sp>
      <p:sp>
        <p:nvSpPr>
          <p:cNvPr id="11" name="Text 9"/>
          <p:cNvSpPr/>
          <p:nvPr/>
        </p:nvSpPr>
        <p:spPr>
          <a:xfrm>
            <a:off x="2423160" y="1737360"/>
            <a:ext cx="256032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Grinding noise when braking</a:t>
            </a:r>
            <a:endParaRPr lang="en-US" sz="850" dirty="0"/>
          </a:p>
        </p:txBody>
      </p:sp>
      <p:sp>
        <p:nvSpPr>
          <p:cNvPr id="12" name="Text 10"/>
          <p:cNvSpPr/>
          <p:nvPr/>
        </p:nvSpPr>
        <p:spPr>
          <a:xfrm>
            <a:off x="5029200" y="1737360"/>
            <a:ext cx="260604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Brakes — URGENT</a:t>
            </a:r>
            <a:endParaRPr lang="en-US" sz="850" dirty="0"/>
          </a:p>
        </p:txBody>
      </p:sp>
      <p:sp>
        <p:nvSpPr>
          <p:cNvPr id="13" name="Shape 11"/>
          <p:cNvSpPr/>
          <p:nvPr/>
        </p:nvSpPr>
        <p:spPr>
          <a:xfrm>
            <a:off x="7662672" y="1783080"/>
            <a:ext cx="896112" cy="199339"/>
          </a:xfrm>
          <a:prstGeom prst="rect">
            <a:avLst/>
          </a:prstGeom>
          <a:solidFill>
            <a:srgbClr val="FFF5F5"/>
          </a:solidFill>
          <a:ln w="9525">
            <a:solidFill>
              <a:srgbClr val="E53E3E"/>
            </a:solidFill>
            <a:prstDash val="solid"/>
          </a:ln>
        </p:spPr>
        <p:txBody>
          <a:bodyPr/>
          <a:lstStyle/>
          <a:p>
            <a:endParaRPr lang="en-US"/>
          </a:p>
        </p:txBody>
      </p:sp>
      <p:sp>
        <p:nvSpPr>
          <p:cNvPr id="14" name="Text 12"/>
          <p:cNvSpPr/>
          <p:nvPr/>
        </p:nvSpPr>
        <p:spPr>
          <a:xfrm>
            <a:off x="7662672" y="1783080"/>
            <a:ext cx="896112" cy="199339"/>
          </a:xfrm>
          <a:prstGeom prst="rect">
            <a:avLst/>
          </a:prstGeom>
          <a:noFill/>
          <a:ln/>
        </p:spPr>
        <p:txBody>
          <a:bodyPr wrap="square" lIns="0" tIns="0" rIns="0" bIns="0" rtlCol="0" anchor="ctr"/>
          <a:lstStyle/>
          <a:p>
            <a:pPr marL="0" indent="0" algn="ctr">
              <a:buNone/>
            </a:pPr>
            <a:r>
              <a:rPr lang="en-US" sz="750" b="1" dirty="0">
                <a:solidFill>
                  <a:srgbClr val="E53E3E"/>
                </a:solidFill>
                <a:latin typeface="Calibri" pitchFamily="34" charset="0"/>
                <a:ea typeface="Calibri" pitchFamily="34" charset="-122"/>
                <a:cs typeface="Calibri" pitchFamily="34" charset="-120"/>
              </a:rPr>
              <a:t>URGENT</a:t>
            </a:r>
            <a:endParaRPr lang="en-US" sz="750" dirty="0"/>
          </a:p>
        </p:txBody>
      </p:sp>
      <p:sp>
        <p:nvSpPr>
          <p:cNvPr id="15" name="Shape 13"/>
          <p:cNvSpPr/>
          <p:nvPr/>
        </p:nvSpPr>
        <p:spPr>
          <a:xfrm>
            <a:off x="457200" y="2028139"/>
            <a:ext cx="8229600" cy="290779"/>
          </a:xfrm>
          <a:prstGeom prst="rect">
            <a:avLst/>
          </a:prstGeom>
          <a:solidFill>
            <a:srgbClr val="F8F9FA"/>
          </a:solidFill>
          <a:ln w="6350">
            <a:solidFill>
              <a:srgbClr val="E2E8F0"/>
            </a:solidFill>
            <a:prstDash val="solid"/>
          </a:ln>
        </p:spPr>
        <p:txBody>
          <a:bodyPr/>
          <a:lstStyle/>
          <a:p>
            <a:endParaRPr lang="en-US"/>
          </a:p>
        </p:txBody>
      </p:sp>
      <p:sp>
        <p:nvSpPr>
          <p:cNvPr id="16" name="Text 14"/>
          <p:cNvSpPr/>
          <p:nvPr/>
        </p:nvSpPr>
        <p:spPr>
          <a:xfrm>
            <a:off x="502920" y="2028139"/>
            <a:ext cx="347472" cy="290779"/>
          </a:xfrm>
          <a:prstGeom prst="rect">
            <a:avLst/>
          </a:prstGeom>
          <a:noFill/>
          <a:ln/>
        </p:spPr>
        <p:txBody>
          <a:bodyPr wrap="square" rtlCol="0" anchor="ctr"/>
          <a:lstStyle/>
          <a:p>
            <a:pPr marL="0" indent="0" algn="ctr">
              <a:buNone/>
            </a:pPr>
            <a:r>
              <a:rPr lang="en-US" sz="900" dirty="0">
                <a:solidFill>
                  <a:srgbClr val="9AA3B0"/>
                </a:solidFill>
                <a:latin typeface="Calibri" pitchFamily="34" charset="0"/>
                <a:ea typeface="Calibri" pitchFamily="34" charset="-122"/>
                <a:cs typeface="Calibri" pitchFamily="34" charset="-120"/>
              </a:rPr>
              <a:t>2</a:t>
            </a:r>
            <a:endParaRPr lang="en-US" sz="900" dirty="0"/>
          </a:p>
        </p:txBody>
      </p:sp>
      <p:sp>
        <p:nvSpPr>
          <p:cNvPr id="17" name="Text 15"/>
          <p:cNvSpPr/>
          <p:nvPr/>
        </p:nvSpPr>
        <p:spPr>
          <a:xfrm>
            <a:off x="868680" y="2028139"/>
            <a:ext cx="1508760" cy="290779"/>
          </a:xfrm>
          <a:prstGeom prst="rect">
            <a:avLst/>
          </a:prstGeom>
          <a:noFill/>
          <a:ln/>
        </p:spPr>
        <p:txBody>
          <a:bodyPr wrap="square"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Greeting test</a:t>
            </a:r>
            <a:endParaRPr lang="en-US" sz="900" dirty="0"/>
          </a:p>
        </p:txBody>
      </p:sp>
      <p:sp>
        <p:nvSpPr>
          <p:cNvPr id="18" name="Text 16"/>
          <p:cNvSpPr/>
          <p:nvPr/>
        </p:nvSpPr>
        <p:spPr>
          <a:xfrm>
            <a:off x="2423160" y="2028139"/>
            <a:ext cx="256032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Initial conversation start</a:t>
            </a:r>
            <a:endParaRPr lang="en-US" sz="850" dirty="0"/>
          </a:p>
        </p:txBody>
      </p:sp>
      <p:sp>
        <p:nvSpPr>
          <p:cNvPr id="19" name="Text 17"/>
          <p:cNvSpPr/>
          <p:nvPr/>
        </p:nvSpPr>
        <p:spPr>
          <a:xfrm>
            <a:off x="5029200" y="2028139"/>
            <a:ext cx="260604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Greet + ask year/make/model</a:t>
            </a:r>
            <a:endParaRPr lang="en-US" sz="850" dirty="0"/>
          </a:p>
        </p:txBody>
      </p:sp>
      <p:sp>
        <p:nvSpPr>
          <p:cNvPr id="20" name="Shape 18"/>
          <p:cNvSpPr/>
          <p:nvPr/>
        </p:nvSpPr>
        <p:spPr>
          <a:xfrm>
            <a:off x="7662672" y="2073859"/>
            <a:ext cx="896112" cy="199339"/>
          </a:xfrm>
          <a:prstGeom prst="rect">
            <a:avLst/>
          </a:prstGeom>
          <a:solidFill>
            <a:srgbClr val="FEF2F2"/>
          </a:solidFill>
          <a:ln w="9525">
            <a:solidFill>
              <a:srgbClr val="9B1C1C"/>
            </a:solidFill>
            <a:prstDash val="solid"/>
          </a:ln>
        </p:spPr>
        <p:txBody>
          <a:bodyPr/>
          <a:lstStyle/>
          <a:p>
            <a:endParaRPr lang="en-US"/>
          </a:p>
        </p:txBody>
      </p:sp>
      <p:sp>
        <p:nvSpPr>
          <p:cNvPr id="21" name="Text 19"/>
          <p:cNvSpPr/>
          <p:nvPr/>
        </p:nvSpPr>
        <p:spPr>
          <a:xfrm>
            <a:off x="7662672" y="2073859"/>
            <a:ext cx="896112" cy="199339"/>
          </a:xfrm>
          <a:prstGeom prst="rect">
            <a:avLst/>
          </a:prstGeom>
          <a:noFill/>
          <a:ln/>
        </p:spPr>
        <p:txBody>
          <a:bodyPr wrap="square" lIns="0" tIns="0" rIns="0" bIns="0" rtlCol="0" anchor="ctr"/>
          <a:lstStyle/>
          <a:p>
            <a:pPr marL="0" indent="0" algn="ctr">
              <a:buNone/>
            </a:pPr>
            <a:r>
              <a:rPr lang="en-US" sz="750" b="1" dirty="0">
                <a:solidFill>
                  <a:srgbClr val="9B1C1C"/>
                </a:solidFill>
                <a:latin typeface="Calibri" pitchFamily="34" charset="0"/>
                <a:ea typeface="Calibri" pitchFamily="34" charset="-122"/>
                <a:cs typeface="Calibri" pitchFamily="34" charset="-120"/>
              </a:rPr>
              <a:t>PASS</a:t>
            </a:r>
            <a:endParaRPr lang="en-US" sz="750" dirty="0"/>
          </a:p>
        </p:txBody>
      </p:sp>
      <p:sp>
        <p:nvSpPr>
          <p:cNvPr id="22" name="Shape 20"/>
          <p:cNvSpPr/>
          <p:nvPr/>
        </p:nvSpPr>
        <p:spPr>
          <a:xfrm>
            <a:off x="457200" y="2318918"/>
            <a:ext cx="8229600" cy="290779"/>
          </a:xfrm>
          <a:prstGeom prst="rect">
            <a:avLst/>
          </a:prstGeom>
          <a:solidFill>
            <a:srgbClr val="FFFFFF"/>
          </a:solidFill>
          <a:ln w="6350">
            <a:solidFill>
              <a:srgbClr val="E2E8F0"/>
            </a:solidFill>
            <a:prstDash val="solid"/>
          </a:ln>
        </p:spPr>
        <p:txBody>
          <a:bodyPr/>
          <a:lstStyle/>
          <a:p>
            <a:endParaRPr lang="en-US"/>
          </a:p>
        </p:txBody>
      </p:sp>
      <p:sp>
        <p:nvSpPr>
          <p:cNvPr id="23" name="Text 21"/>
          <p:cNvSpPr/>
          <p:nvPr/>
        </p:nvSpPr>
        <p:spPr>
          <a:xfrm>
            <a:off x="502920" y="2318918"/>
            <a:ext cx="347472" cy="290779"/>
          </a:xfrm>
          <a:prstGeom prst="rect">
            <a:avLst/>
          </a:prstGeom>
          <a:noFill/>
          <a:ln/>
        </p:spPr>
        <p:txBody>
          <a:bodyPr wrap="square" rtlCol="0" anchor="ctr"/>
          <a:lstStyle/>
          <a:p>
            <a:pPr marL="0" indent="0" algn="ctr">
              <a:buNone/>
            </a:pPr>
            <a:r>
              <a:rPr lang="en-US" sz="900" dirty="0">
                <a:solidFill>
                  <a:srgbClr val="9AA3B0"/>
                </a:solidFill>
                <a:latin typeface="Calibri" pitchFamily="34" charset="0"/>
                <a:ea typeface="Calibri" pitchFamily="34" charset="-122"/>
                <a:cs typeface="Calibri" pitchFamily="34" charset="-120"/>
              </a:rPr>
              <a:t>3</a:t>
            </a:r>
            <a:endParaRPr lang="en-US" sz="900" dirty="0"/>
          </a:p>
        </p:txBody>
      </p:sp>
      <p:sp>
        <p:nvSpPr>
          <p:cNvPr id="24" name="Text 22"/>
          <p:cNvSpPr/>
          <p:nvPr/>
        </p:nvSpPr>
        <p:spPr>
          <a:xfrm>
            <a:off x="868680" y="2318918"/>
            <a:ext cx="1508760" cy="290779"/>
          </a:xfrm>
          <a:prstGeom prst="rect">
            <a:avLst/>
          </a:prstGeom>
          <a:noFill/>
          <a:ln/>
        </p:spPr>
        <p:txBody>
          <a:bodyPr wrap="square"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Follow-up questions</a:t>
            </a:r>
            <a:endParaRPr lang="en-US" sz="900" dirty="0"/>
          </a:p>
        </p:txBody>
      </p:sp>
      <p:sp>
        <p:nvSpPr>
          <p:cNvPr id="25" name="Text 23"/>
          <p:cNvSpPr/>
          <p:nvPr/>
        </p:nvSpPr>
        <p:spPr>
          <a:xfrm>
            <a:off x="2423160" y="2318918"/>
            <a:ext cx="256032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Vague: 'My car is acting weird'</a:t>
            </a:r>
            <a:endParaRPr lang="en-US" sz="850" dirty="0"/>
          </a:p>
        </p:txBody>
      </p:sp>
      <p:sp>
        <p:nvSpPr>
          <p:cNvPr id="26" name="Text 24"/>
          <p:cNvSpPr/>
          <p:nvPr/>
        </p:nvSpPr>
        <p:spPr>
          <a:xfrm>
            <a:off x="5029200" y="2318918"/>
            <a:ext cx="260604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Bot asks clarifying questions</a:t>
            </a:r>
            <a:endParaRPr lang="en-US" sz="850" dirty="0"/>
          </a:p>
        </p:txBody>
      </p:sp>
      <p:sp>
        <p:nvSpPr>
          <p:cNvPr id="27" name="Shape 25"/>
          <p:cNvSpPr/>
          <p:nvPr/>
        </p:nvSpPr>
        <p:spPr>
          <a:xfrm>
            <a:off x="7662672" y="2364638"/>
            <a:ext cx="896112" cy="199339"/>
          </a:xfrm>
          <a:prstGeom prst="rect">
            <a:avLst/>
          </a:prstGeom>
          <a:solidFill>
            <a:srgbClr val="FEF2F2"/>
          </a:solidFill>
          <a:ln w="9525">
            <a:solidFill>
              <a:srgbClr val="9B1C1C"/>
            </a:solidFill>
            <a:prstDash val="solid"/>
          </a:ln>
        </p:spPr>
        <p:txBody>
          <a:bodyPr/>
          <a:lstStyle/>
          <a:p>
            <a:endParaRPr lang="en-US"/>
          </a:p>
        </p:txBody>
      </p:sp>
      <p:sp>
        <p:nvSpPr>
          <p:cNvPr id="28" name="Text 26"/>
          <p:cNvSpPr/>
          <p:nvPr/>
        </p:nvSpPr>
        <p:spPr>
          <a:xfrm>
            <a:off x="7662672" y="2364638"/>
            <a:ext cx="896112" cy="199339"/>
          </a:xfrm>
          <a:prstGeom prst="rect">
            <a:avLst/>
          </a:prstGeom>
          <a:noFill/>
          <a:ln/>
        </p:spPr>
        <p:txBody>
          <a:bodyPr wrap="square" lIns="0" tIns="0" rIns="0" bIns="0" rtlCol="0" anchor="ctr"/>
          <a:lstStyle/>
          <a:p>
            <a:pPr marL="0" indent="0" algn="ctr">
              <a:buNone/>
            </a:pPr>
            <a:r>
              <a:rPr lang="en-US" sz="750" b="1" dirty="0">
                <a:solidFill>
                  <a:srgbClr val="9B1C1C"/>
                </a:solidFill>
                <a:latin typeface="Calibri" pitchFamily="34" charset="0"/>
                <a:ea typeface="Calibri" pitchFamily="34" charset="-122"/>
                <a:cs typeface="Calibri" pitchFamily="34" charset="-120"/>
              </a:rPr>
              <a:t>PASS</a:t>
            </a:r>
            <a:endParaRPr lang="en-US" sz="750" dirty="0"/>
          </a:p>
        </p:txBody>
      </p:sp>
      <p:sp>
        <p:nvSpPr>
          <p:cNvPr id="29" name="Shape 27"/>
          <p:cNvSpPr/>
          <p:nvPr/>
        </p:nvSpPr>
        <p:spPr>
          <a:xfrm>
            <a:off x="457200" y="2609698"/>
            <a:ext cx="8229600" cy="290779"/>
          </a:xfrm>
          <a:prstGeom prst="rect">
            <a:avLst/>
          </a:prstGeom>
          <a:solidFill>
            <a:srgbClr val="F8F9FA"/>
          </a:solidFill>
          <a:ln w="6350">
            <a:solidFill>
              <a:srgbClr val="E2E8F0"/>
            </a:solidFill>
            <a:prstDash val="solid"/>
          </a:ln>
        </p:spPr>
        <p:txBody>
          <a:bodyPr/>
          <a:lstStyle/>
          <a:p>
            <a:endParaRPr lang="en-US"/>
          </a:p>
        </p:txBody>
      </p:sp>
      <p:sp>
        <p:nvSpPr>
          <p:cNvPr id="30" name="Text 28"/>
          <p:cNvSpPr/>
          <p:nvPr/>
        </p:nvSpPr>
        <p:spPr>
          <a:xfrm>
            <a:off x="502920" y="2609698"/>
            <a:ext cx="347472" cy="290779"/>
          </a:xfrm>
          <a:prstGeom prst="rect">
            <a:avLst/>
          </a:prstGeom>
          <a:noFill/>
          <a:ln/>
        </p:spPr>
        <p:txBody>
          <a:bodyPr wrap="square" rtlCol="0" anchor="ctr"/>
          <a:lstStyle/>
          <a:p>
            <a:pPr marL="0" indent="0" algn="ctr">
              <a:buNone/>
            </a:pPr>
            <a:r>
              <a:rPr lang="en-US" sz="900" dirty="0">
                <a:solidFill>
                  <a:srgbClr val="9AA3B0"/>
                </a:solidFill>
                <a:latin typeface="Calibri" pitchFamily="34" charset="0"/>
                <a:ea typeface="Calibri" pitchFamily="34" charset="-122"/>
                <a:cs typeface="Calibri" pitchFamily="34" charset="-120"/>
              </a:rPr>
              <a:t>4</a:t>
            </a:r>
            <a:endParaRPr lang="en-US" sz="900" dirty="0"/>
          </a:p>
        </p:txBody>
      </p:sp>
      <p:sp>
        <p:nvSpPr>
          <p:cNvPr id="31" name="Text 29"/>
          <p:cNvSpPr/>
          <p:nvPr/>
        </p:nvSpPr>
        <p:spPr>
          <a:xfrm>
            <a:off x="868680" y="2609698"/>
            <a:ext cx="1508760" cy="290779"/>
          </a:xfrm>
          <a:prstGeom prst="rect">
            <a:avLst/>
          </a:prstGeom>
          <a:noFill/>
          <a:ln/>
        </p:spPr>
        <p:txBody>
          <a:bodyPr wrap="square"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Check engine light</a:t>
            </a:r>
            <a:endParaRPr lang="en-US" sz="900" dirty="0"/>
          </a:p>
        </p:txBody>
      </p:sp>
      <p:sp>
        <p:nvSpPr>
          <p:cNvPr id="32" name="Text 30"/>
          <p:cNvSpPr/>
          <p:nvPr/>
        </p:nvSpPr>
        <p:spPr>
          <a:xfrm>
            <a:off x="2423160" y="2609698"/>
            <a:ext cx="256032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CEL on, car drives fine</a:t>
            </a:r>
            <a:endParaRPr lang="en-US" sz="850" dirty="0"/>
          </a:p>
        </p:txBody>
      </p:sp>
      <p:sp>
        <p:nvSpPr>
          <p:cNvPr id="33" name="Text 31"/>
          <p:cNvSpPr/>
          <p:nvPr/>
        </p:nvSpPr>
        <p:spPr>
          <a:xfrm>
            <a:off x="5029200" y="2609698"/>
            <a:ext cx="260604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Electrical — SOON</a:t>
            </a:r>
            <a:endParaRPr lang="en-US" sz="850" dirty="0"/>
          </a:p>
        </p:txBody>
      </p:sp>
      <p:sp>
        <p:nvSpPr>
          <p:cNvPr id="34" name="Shape 32"/>
          <p:cNvSpPr/>
          <p:nvPr/>
        </p:nvSpPr>
        <p:spPr>
          <a:xfrm>
            <a:off x="7662672" y="2655418"/>
            <a:ext cx="896112" cy="199339"/>
          </a:xfrm>
          <a:prstGeom prst="rect">
            <a:avLst/>
          </a:prstGeom>
          <a:solidFill>
            <a:srgbClr val="FFFBEB"/>
          </a:solidFill>
          <a:ln w="9525">
            <a:solidFill>
              <a:srgbClr val="D97706"/>
            </a:solidFill>
            <a:prstDash val="solid"/>
          </a:ln>
        </p:spPr>
        <p:txBody>
          <a:bodyPr/>
          <a:lstStyle/>
          <a:p>
            <a:endParaRPr lang="en-US"/>
          </a:p>
        </p:txBody>
      </p:sp>
      <p:sp>
        <p:nvSpPr>
          <p:cNvPr id="35" name="Text 33"/>
          <p:cNvSpPr/>
          <p:nvPr/>
        </p:nvSpPr>
        <p:spPr>
          <a:xfrm>
            <a:off x="7662672" y="2655418"/>
            <a:ext cx="896112" cy="199339"/>
          </a:xfrm>
          <a:prstGeom prst="rect">
            <a:avLst/>
          </a:prstGeom>
          <a:noFill/>
          <a:ln/>
        </p:spPr>
        <p:txBody>
          <a:bodyPr wrap="square" lIns="0" tIns="0" rIns="0" bIns="0" rtlCol="0" anchor="ctr"/>
          <a:lstStyle/>
          <a:p>
            <a:pPr marL="0" indent="0" algn="ctr">
              <a:buNone/>
            </a:pPr>
            <a:r>
              <a:rPr lang="en-US" sz="750" b="1" dirty="0">
                <a:solidFill>
                  <a:srgbClr val="D97706"/>
                </a:solidFill>
                <a:latin typeface="Calibri" pitchFamily="34" charset="0"/>
                <a:ea typeface="Calibri" pitchFamily="34" charset="-122"/>
                <a:cs typeface="Calibri" pitchFamily="34" charset="-120"/>
              </a:rPr>
              <a:t>SOON</a:t>
            </a:r>
            <a:endParaRPr lang="en-US" sz="750" dirty="0"/>
          </a:p>
        </p:txBody>
      </p:sp>
      <p:sp>
        <p:nvSpPr>
          <p:cNvPr id="36" name="Shape 34"/>
          <p:cNvSpPr/>
          <p:nvPr/>
        </p:nvSpPr>
        <p:spPr>
          <a:xfrm>
            <a:off x="457200" y="2900477"/>
            <a:ext cx="8229600" cy="290779"/>
          </a:xfrm>
          <a:prstGeom prst="rect">
            <a:avLst/>
          </a:prstGeom>
          <a:solidFill>
            <a:srgbClr val="FFFFFF"/>
          </a:solidFill>
          <a:ln w="6350">
            <a:solidFill>
              <a:srgbClr val="E2E8F0"/>
            </a:solidFill>
            <a:prstDash val="solid"/>
          </a:ln>
        </p:spPr>
        <p:txBody>
          <a:bodyPr/>
          <a:lstStyle/>
          <a:p>
            <a:endParaRPr lang="en-US"/>
          </a:p>
        </p:txBody>
      </p:sp>
      <p:sp>
        <p:nvSpPr>
          <p:cNvPr id="37" name="Text 35"/>
          <p:cNvSpPr/>
          <p:nvPr/>
        </p:nvSpPr>
        <p:spPr>
          <a:xfrm>
            <a:off x="502920" y="2900477"/>
            <a:ext cx="347472" cy="290779"/>
          </a:xfrm>
          <a:prstGeom prst="rect">
            <a:avLst/>
          </a:prstGeom>
          <a:noFill/>
          <a:ln/>
        </p:spPr>
        <p:txBody>
          <a:bodyPr wrap="square" rtlCol="0" anchor="ctr"/>
          <a:lstStyle/>
          <a:p>
            <a:pPr marL="0" indent="0" algn="ctr">
              <a:buNone/>
            </a:pPr>
            <a:r>
              <a:rPr lang="en-US" sz="900" dirty="0">
                <a:solidFill>
                  <a:srgbClr val="9AA3B0"/>
                </a:solidFill>
                <a:latin typeface="Calibri" pitchFamily="34" charset="0"/>
                <a:ea typeface="Calibri" pitchFamily="34" charset="-122"/>
                <a:cs typeface="Calibri" pitchFamily="34" charset="-120"/>
              </a:rPr>
              <a:t>5</a:t>
            </a:r>
            <a:endParaRPr lang="en-US" sz="900" dirty="0"/>
          </a:p>
        </p:txBody>
      </p:sp>
      <p:sp>
        <p:nvSpPr>
          <p:cNvPr id="38" name="Text 36"/>
          <p:cNvSpPr/>
          <p:nvPr/>
        </p:nvSpPr>
        <p:spPr>
          <a:xfrm>
            <a:off x="868680" y="2900477"/>
            <a:ext cx="1508760" cy="290779"/>
          </a:xfrm>
          <a:prstGeom prst="rect">
            <a:avLst/>
          </a:prstGeom>
          <a:noFill/>
          <a:ln/>
        </p:spPr>
        <p:txBody>
          <a:bodyPr wrap="square"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Off-topic test</a:t>
            </a:r>
            <a:endParaRPr lang="en-US" sz="900" dirty="0"/>
          </a:p>
        </p:txBody>
      </p:sp>
      <p:sp>
        <p:nvSpPr>
          <p:cNvPr id="39" name="Text 37"/>
          <p:cNvSpPr/>
          <p:nvPr/>
        </p:nvSpPr>
        <p:spPr>
          <a:xfrm>
            <a:off x="2423160" y="2900477"/>
            <a:ext cx="256032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Who won the Super Bowl?</a:t>
            </a:r>
            <a:endParaRPr lang="en-US" sz="850" dirty="0"/>
          </a:p>
        </p:txBody>
      </p:sp>
      <p:sp>
        <p:nvSpPr>
          <p:cNvPr id="40" name="Text 38"/>
          <p:cNvSpPr/>
          <p:nvPr/>
        </p:nvSpPr>
        <p:spPr>
          <a:xfrm>
            <a:off x="5029200" y="2900477"/>
            <a:ext cx="260604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Bot redirects to car topics</a:t>
            </a:r>
            <a:endParaRPr lang="en-US" sz="850" dirty="0"/>
          </a:p>
        </p:txBody>
      </p:sp>
      <p:sp>
        <p:nvSpPr>
          <p:cNvPr id="41" name="Shape 39"/>
          <p:cNvSpPr/>
          <p:nvPr/>
        </p:nvSpPr>
        <p:spPr>
          <a:xfrm>
            <a:off x="7662672" y="2946197"/>
            <a:ext cx="896112" cy="199339"/>
          </a:xfrm>
          <a:prstGeom prst="rect">
            <a:avLst/>
          </a:prstGeom>
          <a:solidFill>
            <a:srgbClr val="FEF2F2"/>
          </a:solidFill>
          <a:ln w="9525">
            <a:solidFill>
              <a:srgbClr val="9B1C1C"/>
            </a:solidFill>
            <a:prstDash val="solid"/>
          </a:ln>
        </p:spPr>
        <p:txBody>
          <a:bodyPr/>
          <a:lstStyle/>
          <a:p>
            <a:endParaRPr lang="en-US"/>
          </a:p>
        </p:txBody>
      </p:sp>
      <p:sp>
        <p:nvSpPr>
          <p:cNvPr id="42" name="Text 40"/>
          <p:cNvSpPr/>
          <p:nvPr/>
        </p:nvSpPr>
        <p:spPr>
          <a:xfrm>
            <a:off x="7662672" y="2946197"/>
            <a:ext cx="896112" cy="199339"/>
          </a:xfrm>
          <a:prstGeom prst="rect">
            <a:avLst/>
          </a:prstGeom>
          <a:noFill/>
          <a:ln/>
        </p:spPr>
        <p:txBody>
          <a:bodyPr wrap="square" lIns="0" tIns="0" rIns="0" bIns="0" rtlCol="0" anchor="ctr"/>
          <a:lstStyle/>
          <a:p>
            <a:pPr marL="0" indent="0" algn="ctr">
              <a:buNone/>
            </a:pPr>
            <a:r>
              <a:rPr lang="en-US" sz="750" b="1" dirty="0">
                <a:solidFill>
                  <a:srgbClr val="9B1C1C"/>
                </a:solidFill>
                <a:latin typeface="Calibri" pitchFamily="34" charset="0"/>
                <a:ea typeface="Calibri" pitchFamily="34" charset="-122"/>
                <a:cs typeface="Calibri" pitchFamily="34" charset="-120"/>
              </a:rPr>
              <a:t>PASS</a:t>
            </a:r>
            <a:endParaRPr lang="en-US" sz="750" dirty="0"/>
          </a:p>
        </p:txBody>
      </p:sp>
      <p:sp>
        <p:nvSpPr>
          <p:cNvPr id="43" name="Shape 41"/>
          <p:cNvSpPr/>
          <p:nvPr/>
        </p:nvSpPr>
        <p:spPr>
          <a:xfrm>
            <a:off x="457200" y="3191256"/>
            <a:ext cx="8229600" cy="290779"/>
          </a:xfrm>
          <a:prstGeom prst="rect">
            <a:avLst/>
          </a:prstGeom>
          <a:solidFill>
            <a:srgbClr val="F8F9FA"/>
          </a:solidFill>
          <a:ln w="6350">
            <a:solidFill>
              <a:srgbClr val="E2E8F0"/>
            </a:solidFill>
            <a:prstDash val="solid"/>
          </a:ln>
        </p:spPr>
        <p:txBody>
          <a:bodyPr/>
          <a:lstStyle/>
          <a:p>
            <a:endParaRPr lang="en-US"/>
          </a:p>
        </p:txBody>
      </p:sp>
      <p:sp>
        <p:nvSpPr>
          <p:cNvPr id="44" name="Text 42"/>
          <p:cNvSpPr/>
          <p:nvPr/>
        </p:nvSpPr>
        <p:spPr>
          <a:xfrm>
            <a:off x="502920" y="3191256"/>
            <a:ext cx="347472" cy="290779"/>
          </a:xfrm>
          <a:prstGeom prst="rect">
            <a:avLst/>
          </a:prstGeom>
          <a:noFill/>
          <a:ln/>
        </p:spPr>
        <p:txBody>
          <a:bodyPr wrap="square" rtlCol="0" anchor="ctr"/>
          <a:lstStyle/>
          <a:p>
            <a:pPr marL="0" indent="0" algn="ctr">
              <a:buNone/>
            </a:pPr>
            <a:r>
              <a:rPr lang="en-US" sz="900" dirty="0">
                <a:solidFill>
                  <a:srgbClr val="9AA3B0"/>
                </a:solidFill>
                <a:latin typeface="Calibri" pitchFamily="34" charset="0"/>
                <a:ea typeface="Calibri" pitchFamily="34" charset="-122"/>
                <a:cs typeface="Calibri" pitchFamily="34" charset="-120"/>
              </a:rPr>
              <a:t>6</a:t>
            </a:r>
            <a:endParaRPr lang="en-US" sz="900" dirty="0"/>
          </a:p>
        </p:txBody>
      </p:sp>
      <p:sp>
        <p:nvSpPr>
          <p:cNvPr id="45" name="Text 43"/>
          <p:cNvSpPr/>
          <p:nvPr/>
        </p:nvSpPr>
        <p:spPr>
          <a:xfrm>
            <a:off x="868680" y="3191256"/>
            <a:ext cx="1508760" cy="290779"/>
          </a:xfrm>
          <a:prstGeom prst="rect">
            <a:avLst/>
          </a:prstGeom>
          <a:noFill/>
          <a:ln/>
        </p:spPr>
        <p:txBody>
          <a:bodyPr wrap="square"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Cost estimate</a:t>
            </a:r>
            <a:endParaRPr lang="en-US" sz="900" dirty="0"/>
          </a:p>
        </p:txBody>
      </p:sp>
      <p:sp>
        <p:nvSpPr>
          <p:cNvPr id="46" name="Text 44"/>
          <p:cNvSpPr/>
          <p:nvPr/>
        </p:nvSpPr>
        <p:spPr>
          <a:xfrm>
            <a:off x="2423160" y="3191256"/>
            <a:ext cx="256032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How much will this repair cost?</a:t>
            </a:r>
            <a:endParaRPr lang="en-US" sz="850" dirty="0"/>
          </a:p>
        </p:txBody>
      </p:sp>
      <p:sp>
        <p:nvSpPr>
          <p:cNvPr id="47" name="Text 45"/>
          <p:cNvSpPr/>
          <p:nvPr/>
        </p:nvSpPr>
        <p:spPr>
          <a:xfrm>
            <a:off x="5029200" y="3191256"/>
            <a:ext cx="260604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Politely declines, refers to mechanic</a:t>
            </a:r>
            <a:endParaRPr lang="en-US" sz="850" dirty="0"/>
          </a:p>
        </p:txBody>
      </p:sp>
      <p:sp>
        <p:nvSpPr>
          <p:cNvPr id="48" name="Shape 46"/>
          <p:cNvSpPr/>
          <p:nvPr/>
        </p:nvSpPr>
        <p:spPr>
          <a:xfrm>
            <a:off x="7662672" y="3236976"/>
            <a:ext cx="896112" cy="199339"/>
          </a:xfrm>
          <a:prstGeom prst="rect">
            <a:avLst/>
          </a:prstGeom>
          <a:solidFill>
            <a:srgbClr val="FEF2F2"/>
          </a:solidFill>
          <a:ln w="9525">
            <a:solidFill>
              <a:srgbClr val="9B1C1C"/>
            </a:solidFill>
            <a:prstDash val="solid"/>
          </a:ln>
        </p:spPr>
        <p:txBody>
          <a:bodyPr/>
          <a:lstStyle/>
          <a:p>
            <a:endParaRPr lang="en-US"/>
          </a:p>
        </p:txBody>
      </p:sp>
      <p:sp>
        <p:nvSpPr>
          <p:cNvPr id="49" name="Text 47"/>
          <p:cNvSpPr/>
          <p:nvPr/>
        </p:nvSpPr>
        <p:spPr>
          <a:xfrm>
            <a:off x="7662672" y="3236976"/>
            <a:ext cx="896112" cy="199339"/>
          </a:xfrm>
          <a:prstGeom prst="rect">
            <a:avLst/>
          </a:prstGeom>
          <a:noFill/>
          <a:ln/>
        </p:spPr>
        <p:txBody>
          <a:bodyPr wrap="square" lIns="0" tIns="0" rIns="0" bIns="0" rtlCol="0" anchor="ctr"/>
          <a:lstStyle/>
          <a:p>
            <a:pPr marL="0" indent="0" algn="ctr">
              <a:buNone/>
            </a:pPr>
            <a:r>
              <a:rPr lang="en-US" sz="750" b="1" dirty="0">
                <a:solidFill>
                  <a:srgbClr val="9B1C1C"/>
                </a:solidFill>
                <a:latin typeface="Calibri" pitchFamily="34" charset="0"/>
                <a:ea typeface="Calibri" pitchFamily="34" charset="-122"/>
                <a:cs typeface="Calibri" pitchFamily="34" charset="-120"/>
              </a:rPr>
              <a:t>PASS</a:t>
            </a:r>
            <a:endParaRPr lang="en-US" sz="750" dirty="0"/>
          </a:p>
        </p:txBody>
      </p:sp>
      <p:sp>
        <p:nvSpPr>
          <p:cNvPr id="50" name="Shape 48"/>
          <p:cNvSpPr/>
          <p:nvPr/>
        </p:nvSpPr>
        <p:spPr>
          <a:xfrm>
            <a:off x="457200" y="3482035"/>
            <a:ext cx="8229600" cy="290779"/>
          </a:xfrm>
          <a:prstGeom prst="rect">
            <a:avLst/>
          </a:prstGeom>
          <a:solidFill>
            <a:srgbClr val="FFFFFF"/>
          </a:solidFill>
          <a:ln w="6350">
            <a:solidFill>
              <a:srgbClr val="E2E8F0"/>
            </a:solidFill>
            <a:prstDash val="solid"/>
          </a:ln>
        </p:spPr>
        <p:txBody>
          <a:bodyPr/>
          <a:lstStyle/>
          <a:p>
            <a:endParaRPr lang="en-US"/>
          </a:p>
        </p:txBody>
      </p:sp>
      <p:sp>
        <p:nvSpPr>
          <p:cNvPr id="51" name="Text 49"/>
          <p:cNvSpPr/>
          <p:nvPr/>
        </p:nvSpPr>
        <p:spPr>
          <a:xfrm>
            <a:off x="502920" y="3482035"/>
            <a:ext cx="347472" cy="290779"/>
          </a:xfrm>
          <a:prstGeom prst="rect">
            <a:avLst/>
          </a:prstGeom>
          <a:noFill/>
          <a:ln/>
        </p:spPr>
        <p:txBody>
          <a:bodyPr wrap="square" rtlCol="0" anchor="ctr"/>
          <a:lstStyle/>
          <a:p>
            <a:pPr marL="0" indent="0" algn="ctr">
              <a:buNone/>
            </a:pPr>
            <a:r>
              <a:rPr lang="en-US" sz="900" dirty="0">
                <a:solidFill>
                  <a:srgbClr val="9AA3B0"/>
                </a:solidFill>
                <a:latin typeface="Calibri" pitchFamily="34" charset="0"/>
                <a:ea typeface="Calibri" pitchFamily="34" charset="-122"/>
                <a:cs typeface="Calibri" pitchFamily="34" charset="-120"/>
              </a:rPr>
              <a:t>7</a:t>
            </a:r>
            <a:endParaRPr lang="en-US" sz="900" dirty="0"/>
          </a:p>
        </p:txBody>
      </p:sp>
      <p:sp>
        <p:nvSpPr>
          <p:cNvPr id="52" name="Text 50"/>
          <p:cNvSpPr/>
          <p:nvPr/>
        </p:nvSpPr>
        <p:spPr>
          <a:xfrm>
            <a:off x="868680" y="3482035"/>
            <a:ext cx="1508760" cy="290779"/>
          </a:xfrm>
          <a:prstGeom prst="rect">
            <a:avLst/>
          </a:prstGeom>
          <a:noFill/>
          <a:ln/>
        </p:spPr>
        <p:txBody>
          <a:bodyPr wrap="square"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Certainty check</a:t>
            </a:r>
            <a:endParaRPr lang="en-US" sz="900" dirty="0"/>
          </a:p>
        </p:txBody>
      </p:sp>
      <p:sp>
        <p:nvSpPr>
          <p:cNvPr id="53" name="Text 51"/>
          <p:cNvSpPr/>
          <p:nvPr/>
        </p:nvSpPr>
        <p:spPr>
          <a:xfrm>
            <a:off x="2423160" y="3482035"/>
            <a:ext cx="256032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Tell me exactly what's wrong</a:t>
            </a:r>
            <a:endParaRPr lang="en-US" sz="850" dirty="0"/>
          </a:p>
        </p:txBody>
      </p:sp>
      <p:sp>
        <p:nvSpPr>
          <p:cNvPr id="54" name="Text 52"/>
          <p:cNvSpPr/>
          <p:nvPr/>
        </p:nvSpPr>
        <p:spPr>
          <a:xfrm>
            <a:off x="5029200" y="3482035"/>
            <a:ext cx="260604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Uses 'likely'/'possible' language</a:t>
            </a:r>
            <a:endParaRPr lang="en-US" sz="850" dirty="0"/>
          </a:p>
        </p:txBody>
      </p:sp>
      <p:sp>
        <p:nvSpPr>
          <p:cNvPr id="55" name="Shape 53"/>
          <p:cNvSpPr/>
          <p:nvPr/>
        </p:nvSpPr>
        <p:spPr>
          <a:xfrm>
            <a:off x="7662672" y="3527755"/>
            <a:ext cx="896112" cy="199339"/>
          </a:xfrm>
          <a:prstGeom prst="rect">
            <a:avLst/>
          </a:prstGeom>
          <a:solidFill>
            <a:srgbClr val="FEF2F2"/>
          </a:solidFill>
          <a:ln w="9525">
            <a:solidFill>
              <a:srgbClr val="9B1C1C"/>
            </a:solidFill>
            <a:prstDash val="solid"/>
          </a:ln>
        </p:spPr>
        <p:txBody>
          <a:bodyPr/>
          <a:lstStyle/>
          <a:p>
            <a:endParaRPr lang="en-US"/>
          </a:p>
        </p:txBody>
      </p:sp>
      <p:sp>
        <p:nvSpPr>
          <p:cNvPr id="56" name="Text 54"/>
          <p:cNvSpPr/>
          <p:nvPr/>
        </p:nvSpPr>
        <p:spPr>
          <a:xfrm>
            <a:off x="7662672" y="3527755"/>
            <a:ext cx="896112" cy="199339"/>
          </a:xfrm>
          <a:prstGeom prst="rect">
            <a:avLst/>
          </a:prstGeom>
          <a:noFill/>
          <a:ln/>
        </p:spPr>
        <p:txBody>
          <a:bodyPr wrap="square" lIns="0" tIns="0" rIns="0" bIns="0" rtlCol="0" anchor="ctr"/>
          <a:lstStyle/>
          <a:p>
            <a:pPr marL="0" indent="0" algn="ctr">
              <a:buNone/>
            </a:pPr>
            <a:r>
              <a:rPr lang="en-US" sz="750" b="1" dirty="0">
                <a:solidFill>
                  <a:srgbClr val="9B1C1C"/>
                </a:solidFill>
                <a:latin typeface="Calibri" pitchFamily="34" charset="0"/>
                <a:ea typeface="Calibri" pitchFamily="34" charset="-122"/>
                <a:cs typeface="Calibri" pitchFamily="34" charset="-120"/>
              </a:rPr>
              <a:t>PASS</a:t>
            </a:r>
            <a:endParaRPr lang="en-US" sz="750" dirty="0"/>
          </a:p>
        </p:txBody>
      </p:sp>
      <p:sp>
        <p:nvSpPr>
          <p:cNvPr id="57" name="Shape 55"/>
          <p:cNvSpPr/>
          <p:nvPr/>
        </p:nvSpPr>
        <p:spPr>
          <a:xfrm>
            <a:off x="457200" y="3772814"/>
            <a:ext cx="8229600" cy="290779"/>
          </a:xfrm>
          <a:prstGeom prst="rect">
            <a:avLst/>
          </a:prstGeom>
          <a:solidFill>
            <a:srgbClr val="F8F9FA"/>
          </a:solidFill>
          <a:ln w="6350">
            <a:solidFill>
              <a:srgbClr val="E2E8F0"/>
            </a:solidFill>
            <a:prstDash val="solid"/>
          </a:ln>
        </p:spPr>
        <p:txBody>
          <a:bodyPr/>
          <a:lstStyle/>
          <a:p>
            <a:endParaRPr lang="en-US"/>
          </a:p>
        </p:txBody>
      </p:sp>
      <p:sp>
        <p:nvSpPr>
          <p:cNvPr id="58" name="Text 56"/>
          <p:cNvSpPr/>
          <p:nvPr/>
        </p:nvSpPr>
        <p:spPr>
          <a:xfrm>
            <a:off x="502920" y="3772814"/>
            <a:ext cx="347472" cy="290779"/>
          </a:xfrm>
          <a:prstGeom prst="rect">
            <a:avLst/>
          </a:prstGeom>
          <a:noFill/>
          <a:ln/>
        </p:spPr>
        <p:txBody>
          <a:bodyPr wrap="square" rtlCol="0" anchor="ctr"/>
          <a:lstStyle/>
          <a:p>
            <a:pPr marL="0" indent="0" algn="ctr">
              <a:buNone/>
            </a:pPr>
            <a:r>
              <a:rPr lang="en-US" sz="900" dirty="0">
                <a:solidFill>
                  <a:srgbClr val="9AA3B0"/>
                </a:solidFill>
                <a:latin typeface="Calibri" pitchFamily="34" charset="0"/>
                <a:ea typeface="Calibri" pitchFamily="34" charset="-122"/>
                <a:cs typeface="Calibri" pitchFamily="34" charset="-120"/>
              </a:rPr>
              <a:t>8</a:t>
            </a:r>
            <a:endParaRPr lang="en-US" sz="900" dirty="0"/>
          </a:p>
        </p:txBody>
      </p:sp>
      <p:sp>
        <p:nvSpPr>
          <p:cNvPr id="59" name="Text 57"/>
          <p:cNvSpPr/>
          <p:nvPr/>
        </p:nvSpPr>
        <p:spPr>
          <a:xfrm>
            <a:off x="868680" y="3772814"/>
            <a:ext cx="1508760" cy="290779"/>
          </a:xfrm>
          <a:prstGeom prst="rect">
            <a:avLst/>
          </a:prstGeom>
          <a:noFill/>
          <a:ln/>
        </p:spPr>
        <p:txBody>
          <a:bodyPr wrap="square"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Low urgency</a:t>
            </a:r>
            <a:endParaRPr lang="en-US" sz="900" dirty="0"/>
          </a:p>
        </p:txBody>
      </p:sp>
      <p:sp>
        <p:nvSpPr>
          <p:cNvPr id="60" name="Text 58"/>
          <p:cNvSpPr/>
          <p:nvPr/>
        </p:nvSpPr>
        <p:spPr>
          <a:xfrm>
            <a:off x="2423160" y="3772814"/>
            <a:ext cx="256032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Squeaky door hinge</a:t>
            </a:r>
            <a:endParaRPr lang="en-US" sz="850" dirty="0"/>
          </a:p>
        </p:txBody>
      </p:sp>
      <p:sp>
        <p:nvSpPr>
          <p:cNvPr id="61" name="Text 59"/>
          <p:cNvSpPr/>
          <p:nvPr/>
        </p:nvSpPr>
        <p:spPr>
          <a:xfrm>
            <a:off x="5029200" y="3772814"/>
            <a:ext cx="260604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Non-mechanical — MONITOR</a:t>
            </a:r>
            <a:endParaRPr lang="en-US" sz="850" dirty="0"/>
          </a:p>
        </p:txBody>
      </p:sp>
      <p:sp>
        <p:nvSpPr>
          <p:cNvPr id="62" name="Shape 60"/>
          <p:cNvSpPr/>
          <p:nvPr/>
        </p:nvSpPr>
        <p:spPr>
          <a:xfrm>
            <a:off x="7662672" y="3818534"/>
            <a:ext cx="896112" cy="199339"/>
          </a:xfrm>
          <a:prstGeom prst="rect">
            <a:avLst/>
          </a:prstGeom>
          <a:solidFill>
            <a:srgbClr val="F0FFF4"/>
          </a:solidFill>
          <a:ln w="9525">
            <a:solidFill>
              <a:srgbClr val="38A169"/>
            </a:solidFill>
            <a:prstDash val="solid"/>
          </a:ln>
        </p:spPr>
        <p:txBody>
          <a:bodyPr/>
          <a:lstStyle/>
          <a:p>
            <a:endParaRPr lang="en-US"/>
          </a:p>
        </p:txBody>
      </p:sp>
      <p:sp>
        <p:nvSpPr>
          <p:cNvPr id="63" name="Text 61"/>
          <p:cNvSpPr/>
          <p:nvPr/>
        </p:nvSpPr>
        <p:spPr>
          <a:xfrm>
            <a:off x="7662672" y="3818534"/>
            <a:ext cx="896112" cy="199339"/>
          </a:xfrm>
          <a:prstGeom prst="rect">
            <a:avLst/>
          </a:prstGeom>
          <a:noFill/>
          <a:ln/>
        </p:spPr>
        <p:txBody>
          <a:bodyPr wrap="square" lIns="0" tIns="0" rIns="0" bIns="0" rtlCol="0" anchor="ctr"/>
          <a:lstStyle/>
          <a:p>
            <a:pPr marL="0" indent="0" algn="ctr">
              <a:buNone/>
            </a:pPr>
            <a:r>
              <a:rPr lang="en-US" sz="750" b="1" dirty="0">
                <a:solidFill>
                  <a:srgbClr val="38A169"/>
                </a:solidFill>
                <a:latin typeface="Calibri" pitchFamily="34" charset="0"/>
                <a:ea typeface="Calibri" pitchFamily="34" charset="-122"/>
                <a:cs typeface="Calibri" pitchFamily="34" charset="-120"/>
              </a:rPr>
              <a:t>MONITOR</a:t>
            </a:r>
            <a:endParaRPr lang="en-US" sz="750" dirty="0"/>
          </a:p>
        </p:txBody>
      </p:sp>
      <p:sp>
        <p:nvSpPr>
          <p:cNvPr id="64" name="Shape 62"/>
          <p:cNvSpPr/>
          <p:nvPr/>
        </p:nvSpPr>
        <p:spPr>
          <a:xfrm>
            <a:off x="457200" y="4063594"/>
            <a:ext cx="8229600" cy="290779"/>
          </a:xfrm>
          <a:prstGeom prst="rect">
            <a:avLst/>
          </a:prstGeom>
          <a:solidFill>
            <a:srgbClr val="FFFFFF"/>
          </a:solidFill>
          <a:ln w="6350">
            <a:solidFill>
              <a:srgbClr val="E2E8F0"/>
            </a:solidFill>
            <a:prstDash val="solid"/>
          </a:ln>
        </p:spPr>
        <p:txBody>
          <a:bodyPr/>
          <a:lstStyle/>
          <a:p>
            <a:endParaRPr lang="en-US"/>
          </a:p>
        </p:txBody>
      </p:sp>
      <p:sp>
        <p:nvSpPr>
          <p:cNvPr id="65" name="Text 63"/>
          <p:cNvSpPr/>
          <p:nvPr/>
        </p:nvSpPr>
        <p:spPr>
          <a:xfrm>
            <a:off x="502920" y="4063594"/>
            <a:ext cx="347472" cy="290779"/>
          </a:xfrm>
          <a:prstGeom prst="rect">
            <a:avLst/>
          </a:prstGeom>
          <a:noFill/>
          <a:ln/>
        </p:spPr>
        <p:txBody>
          <a:bodyPr wrap="square" rtlCol="0" anchor="ctr"/>
          <a:lstStyle/>
          <a:p>
            <a:pPr marL="0" indent="0" algn="ctr">
              <a:buNone/>
            </a:pPr>
            <a:r>
              <a:rPr lang="en-US" sz="900" dirty="0">
                <a:solidFill>
                  <a:srgbClr val="9AA3B0"/>
                </a:solidFill>
                <a:latin typeface="Calibri" pitchFamily="34" charset="0"/>
                <a:ea typeface="Calibri" pitchFamily="34" charset="-122"/>
                <a:cs typeface="Calibri" pitchFamily="34" charset="-120"/>
              </a:rPr>
              <a:t>9</a:t>
            </a:r>
            <a:endParaRPr lang="en-US" sz="900" dirty="0"/>
          </a:p>
        </p:txBody>
      </p:sp>
      <p:sp>
        <p:nvSpPr>
          <p:cNvPr id="66" name="Text 64"/>
          <p:cNvSpPr/>
          <p:nvPr/>
        </p:nvSpPr>
        <p:spPr>
          <a:xfrm>
            <a:off x="868680" y="4063594"/>
            <a:ext cx="1508760" cy="290779"/>
          </a:xfrm>
          <a:prstGeom prst="rect">
            <a:avLst/>
          </a:prstGeom>
          <a:noFill/>
          <a:ln/>
        </p:spPr>
        <p:txBody>
          <a:bodyPr wrap="square"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Multiple symptoms</a:t>
            </a:r>
            <a:endParaRPr lang="en-US" sz="900" dirty="0"/>
          </a:p>
        </p:txBody>
      </p:sp>
      <p:sp>
        <p:nvSpPr>
          <p:cNvPr id="67" name="Text 65"/>
          <p:cNvSpPr/>
          <p:nvPr/>
        </p:nvSpPr>
        <p:spPr>
          <a:xfrm>
            <a:off x="2423160" y="4063594"/>
            <a:ext cx="256032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Grinding + smoke from hood</a:t>
            </a:r>
            <a:endParaRPr lang="en-US" sz="850" dirty="0"/>
          </a:p>
        </p:txBody>
      </p:sp>
      <p:sp>
        <p:nvSpPr>
          <p:cNvPr id="68" name="Text 66"/>
          <p:cNvSpPr/>
          <p:nvPr/>
        </p:nvSpPr>
        <p:spPr>
          <a:xfrm>
            <a:off x="5029200" y="4063594"/>
            <a:ext cx="260604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Both addressed; smoke = URGENT</a:t>
            </a:r>
            <a:endParaRPr lang="en-US" sz="850" dirty="0"/>
          </a:p>
        </p:txBody>
      </p:sp>
      <p:sp>
        <p:nvSpPr>
          <p:cNvPr id="69" name="Shape 67"/>
          <p:cNvSpPr/>
          <p:nvPr/>
        </p:nvSpPr>
        <p:spPr>
          <a:xfrm>
            <a:off x="7662672" y="4109314"/>
            <a:ext cx="896112" cy="199339"/>
          </a:xfrm>
          <a:prstGeom prst="rect">
            <a:avLst/>
          </a:prstGeom>
          <a:solidFill>
            <a:srgbClr val="FFF5F5"/>
          </a:solidFill>
          <a:ln w="9525">
            <a:solidFill>
              <a:srgbClr val="E53E3E"/>
            </a:solidFill>
            <a:prstDash val="solid"/>
          </a:ln>
        </p:spPr>
        <p:txBody>
          <a:bodyPr/>
          <a:lstStyle/>
          <a:p>
            <a:endParaRPr lang="en-US"/>
          </a:p>
        </p:txBody>
      </p:sp>
      <p:sp>
        <p:nvSpPr>
          <p:cNvPr id="70" name="Text 68"/>
          <p:cNvSpPr/>
          <p:nvPr/>
        </p:nvSpPr>
        <p:spPr>
          <a:xfrm>
            <a:off x="7662672" y="4109314"/>
            <a:ext cx="896112" cy="199339"/>
          </a:xfrm>
          <a:prstGeom prst="rect">
            <a:avLst/>
          </a:prstGeom>
          <a:noFill/>
          <a:ln/>
        </p:spPr>
        <p:txBody>
          <a:bodyPr wrap="square" lIns="0" tIns="0" rIns="0" bIns="0" rtlCol="0" anchor="ctr"/>
          <a:lstStyle/>
          <a:p>
            <a:pPr marL="0" indent="0" algn="ctr">
              <a:buNone/>
            </a:pPr>
            <a:r>
              <a:rPr lang="en-US" sz="750" b="1" dirty="0">
                <a:solidFill>
                  <a:srgbClr val="E53E3E"/>
                </a:solidFill>
                <a:latin typeface="Calibri" pitchFamily="34" charset="0"/>
                <a:ea typeface="Calibri" pitchFamily="34" charset="-122"/>
                <a:cs typeface="Calibri" pitchFamily="34" charset="-120"/>
              </a:rPr>
              <a:t>URGENT</a:t>
            </a:r>
            <a:endParaRPr lang="en-US" sz="750" dirty="0"/>
          </a:p>
        </p:txBody>
      </p:sp>
      <p:sp>
        <p:nvSpPr>
          <p:cNvPr id="71" name="Shape 69"/>
          <p:cNvSpPr/>
          <p:nvPr/>
        </p:nvSpPr>
        <p:spPr>
          <a:xfrm>
            <a:off x="457200" y="4354373"/>
            <a:ext cx="8229600" cy="290779"/>
          </a:xfrm>
          <a:prstGeom prst="rect">
            <a:avLst/>
          </a:prstGeom>
          <a:solidFill>
            <a:srgbClr val="F8F9FA"/>
          </a:solidFill>
          <a:ln w="6350">
            <a:solidFill>
              <a:srgbClr val="E2E8F0"/>
            </a:solidFill>
            <a:prstDash val="solid"/>
          </a:ln>
        </p:spPr>
        <p:txBody>
          <a:bodyPr/>
          <a:lstStyle/>
          <a:p>
            <a:endParaRPr lang="en-US"/>
          </a:p>
        </p:txBody>
      </p:sp>
      <p:sp>
        <p:nvSpPr>
          <p:cNvPr id="72" name="Text 70"/>
          <p:cNvSpPr/>
          <p:nvPr/>
        </p:nvSpPr>
        <p:spPr>
          <a:xfrm>
            <a:off x="502920" y="4354373"/>
            <a:ext cx="347472" cy="290779"/>
          </a:xfrm>
          <a:prstGeom prst="rect">
            <a:avLst/>
          </a:prstGeom>
          <a:noFill/>
          <a:ln/>
        </p:spPr>
        <p:txBody>
          <a:bodyPr wrap="square" rtlCol="0" anchor="ctr"/>
          <a:lstStyle/>
          <a:p>
            <a:pPr marL="0" indent="0" algn="ctr">
              <a:buNone/>
            </a:pPr>
            <a:r>
              <a:rPr lang="en-US" sz="900" dirty="0">
                <a:solidFill>
                  <a:srgbClr val="9AA3B0"/>
                </a:solidFill>
                <a:latin typeface="Calibri" pitchFamily="34" charset="0"/>
                <a:ea typeface="Calibri" pitchFamily="34" charset="-122"/>
                <a:cs typeface="Calibri" pitchFamily="34" charset="-120"/>
              </a:rPr>
              <a:t>10</a:t>
            </a:r>
            <a:endParaRPr lang="en-US" sz="900" dirty="0"/>
          </a:p>
        </p:txBody>
      </p:sp>
      <p:sp>
        <p:nvSpPr>
          <p:cNvPr id="73" name="Text 71"/>
          <p:cNvSpPr/>
          <p:nvPr/>
        </p:nvSpPr>
        <p:spPr>
          <a:xfrm>
            <a:off x="868680" y="4354373"/>
            <a:ext cx="1508760" cy="290779"/>
          </a:xfrm>
          <a:prstGeom prst="rect">
            <a:avLst/>
          </a:prstGeom>
          <a:noFill/>
          <a:ln/>
        </p:spPr>
        <p:txBody>
          <a:bodyPr wrap="square"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Wrap-up test</a:t>
            </a:r>
            <a:endParaRPr lang="en-US" sz="900" dirty="0"/>
          </a:p>
        </p:txBody>
      </p:sp>
      <p:sp>
        <p:nvSpPr>
          <p:cNvPr id="74" name="Text 72"/>
          <p:cNvSpPr/>
          <p:nvPr/>
        </p:nvSpPr>
        <p:spPr>
          <a:xfrm>
            <a:off x="2423160" y="4354373"/>
            <a:ext cx="256032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After triage completes</a:t>
            </a:r>
            <a:endParaRPr lang="en-US" sz="850" dirty="0"/>
          </a:p>
        </p:txBody>
      </p:sp>
      <p:sp>
        <p:nvSpPr>
          <p:cNvPr id="75" name="Text 73"/>
          <p:cNvSpPr/>
          <p:nvPr/>
        </p:nvSpPr>
        <p:spPr>
          <a:xfrm>
            <a:off x="5029200" y="4354373"/>
            <a:ext cx="2606040" cy="290779"/>
          </a:xfrm>
          <a:prstGeom prst="rect">
            <a:avLst/>
          </a:prstGeom>
          <a:noFill/>
          <a:ln/>
        </p:spPr>
        <p:txBody>
          <a:bodyPr wrap="square" rtlCol="0" anchor="ctr"/>
          <a:lstStyle/>
          <a:p>
            <a:pPr marL="0" indent="0">
              <a:buNone/>
            </a:pPr>
            <a:r>
              <a:rPr lang="en-US" sz="850" dirty="0">
                <a:solidFill>
                  <a:srgbClr val="4A5568"/>
                </a:solidFill>
                <a:latin typeface="Calibri" pitchFamily="34" charset="0"/>
                <a:ea typeface="Calibri" pitchFamily="34" charset="-122"/>
                <a:cs typeface="Calibri" pitchFamily="34" charset="-120"/>
              </a:rPr>
              <a:t>Asks 'Anything else about vehicle?'</a:t>
            </a:r>
            <a:endParaRPr lang="en-US" sz="850" dirty="0"/>
          </a:p>
        </p:txBody>
      </p:sp>
      <p:sp>
        <p:nvSpPr>
          <p:cNvPr id="76" name="Shape 74"/>
          <p:cNvSpPr/>
          <p:nvPr/>
        </p:nvSpPr>
        <p:spPr>
          <a:xfrm>
            <a:off x="7662672" y="4400093"/>
            <a:ext cx="896112" cy="199339"/>
          </a:xfrm>
          <a:prstGeom prst="rect">
            <a:avLst/>
          </a:prstGeom>
          <a:solidFill>
            <a:srgbClr val="FEF2F2"/>
          </a:solidFill>
          <a:ln w="9525">
            <a:solidFill>
              <a:srgbClr val="9B1C1C"/>
            </a:solidFill>
            <a:prstDash val="solid"/>
          </a:ln>
        </p:spPr>
        <p:txBody>
          <a:bodyPr/>
          <a:lstStyle/>
          <a:p>
            <a:endParaRPr lang="en-US"/>
          </a:p>
        </p:txBody>
      </p:sp>
      <p:sp>
        <p:nvSpPr>
          <p:cNvPr id="77" name="Text 75"/>
          <p:cNvSpPr/>
          <p:nvPr/>
        </p:nvSpPr>
        <p:spPr>
          <a:xfrm>
            <a:off x="7662672" y="4400093"/>
            <a:ext cx="896112" cy="199339"/>
          </a:xfrm>
          <a:prstGeom prst="rect">
            <a:avLst/>
          </a:prstGeom>
          <a:noFill/>
          <a:ln/>
        </p:spPr>
        <p:txBody>
          <a:bodyPr wrap="square" lIns="0" tIns="0" rIns="0" bIns="0" rtlCol="0" anchor="ctr"/>
          <a:lstStyle/>
          <a:p>
            <a:pPr marL="0" indent="0" algn="ctr">
              <a:buNone/>
            </a:pPr>
            <a:r>
              <a:rPr lang="en-US" sz="750" b="1" dirty="0">
                <a:solidFill>
                  <a:srgbClr val="9B1C1C"/>
                </a:solidFill>
                <a:latin typeface="Calibri" pitchFamily="34" charset="0"/>
                <a:ea typeface="Calibri" pitchFamily="34" charset="-122"/>
                <a:cs typeface="Calibri" pitchFamily="34" charset="-120"/>
              </a:rPr>
              <a:t>PASS</a:t>
            </a:r>
            <a:endParaRPr lang="en-US" sz="750" dirty="0"/>
          </a:p>
        </p:txBody>
      </p:sp>
      <p:sp>
        <p:nvSpPr>
          <p:cNvPr id="78" name="Shape 76"/>
          <p:cNvSpPr/>
          <p:nvPr/>
        </p:nvSpPr>
        <p:spPr>
          <a:xfrm>
            <a:off x="457200" y="4736592"/>
            <a:ext cx="8229600" cy="0"/>
          </a:xfrm>
          <a:prstGeom prst="line">
            <a:avLst/>
          </a:prstGeom>
          <a:noFill/>
          <a:ln w="12700">
            <a:solidFill>
              <a:srgbClr val="E2E8F0"/>
            </a:solidFill>
            <a:prstDash val="solid"/>
          </a:ln>
        </p:spPr>
        <p:txBody>
          <a:bodyPr/>
          <a:lstStyle/>
          <a:p>
            <a:endParaRPr lang="en-US"/>
          </a:p>
        </p:txBody>
      </p:sp>
      <p:sp>
        <p:nvSpPr>
          <p:cNvPr id="80" name="Text 78"/>
          <p:cNvSpPr/>
          <p:nvPr/>
        </p:nvSpPr>
        <p:spPr>
          <a:xfrm>
            <a:off x="8503920" y="4773168"/>
            <a:ext cx="411480" cy="228600"/>
          </a:xfrm>
          <a:prstGeom prst="rect">
            <a:avLst/>
          </a:prstGeom>
          <a:noFill/>
          <a:ln/>
        </p:spPr>
        <p:txBody>
          <a:bodyPr wrap="square" rtlCol="0" anchor="ctr"/>
          <a:lstStyle/>
          <a:p>
            <a:pPr marL="0" indent="0" algn="r">
              <a:buNone/>
            </a:pPr>
            <a:r>
              <a:rPr lang="en-US" sz="900" dirty="0">
                <a:solidFill>
                  <a:srgbClr val="9AA3B0"/>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274320"/>
            <a:ext cx="1371600" cy="246888"/>
          </a:xfrm>
          <a:prstGeom prst="roundRect">
            <a:avLst>
              <a:gd name="adj" fmla="val 22222"/>
            </a:avLst>
          </a:prstGeom>
          <a:solidFill>
            <a:srgbClr val="FEF2F2"/>
          </a:solidFill>
          <a:ln w="6350">
            <a:solidFill>
              <a:srgbClr val="F87171"/>
            </a:solidFill>
            <a:prstDash val="solid"/>
          </a:ln>
        </p:spPr>
        <p:txBody>
          <a:bodyPr/>
          <a:lstStyle/>
          <a:p>
            <a:endParaRPr lang="en-US"/>
          </a:p>
        </p:txBody>
      </p:sp>
      <p:sp>
        <p:nvSpPr>
          <p:cNvPr id="3" name="Text 1"/>
          <p:cNvSpPr/>
          <p:nvPr/>
        </p:nvSpPr>
        <p:spPr>
          <a:xfrm>
            <a:off x="457200" y="274320"/>
            <a:ext cx="1371600" cy="246888"/>
          </a:xfrm>
          <a:prstGeom prst="rect">
            <a:avLst/>
          </a:prstGeom>
          <a:noFill/>
          <a:ln/>
        </p:spPr>
        <p:txBody>
          <a:bodyPr wrap="square" lIns="0" tIns="0" rIns="0" bIns="0" rtlCol="0" anchor="ctr"/>
          <a:lstStyle/>
          <a:p>
            <a:pPr marL="0" indent="0" algn="ctr">
              <a:buNone/>
            </a:pPr>
            <a:r>
              <a:rPr lang="en-US" sz="750" b="1" dirty="0">
                <a:solidFill>
                  <a:srgbClr val="9B1C1C"/>
                </a:solidFill>
              </a:rPr>
              <a:t>REFLECTION</a:t>
            </a:r>
            <a:endParaRPr lang="en-US" sz="750" dirty="0"/>
          </a:p>
        </p:txBody>
      </p:sp>
      <p:sp>
        <p:nvSpPr>
          <p:cNvPr id="4" name="Text 2"/>
          <p:cNvSpPr/>
          <p:nvPr/>
        </p:nvSpPr>
        <p:spPr>
          <a:xfrm>
            <a:off x="457200" y="621792"/>
            <a:ext cx="8229600" cy="658368"/>
          </a:xfrm>
          <a:prstGeom prst="rect">
            <a:avLst/>
          </a:prstGeom>
          <a:noFill/>
          <a:ln/>
        </p:spPr>
        <p:txBody>
          <a:bodyPr wrap="square" rtlCol="0" anchor="ctr"/>
          <a:lstStyle/>
          <a:p>
            <a:pPr marL="0" indent="0" algn="l">
              <a:buNone/>
            </a:pPr>
            <a:r>
              <a:rPr lang="en-US" sz="3200" b="1" dirty="0">
                <a:solidFill>
                  <a:srgbClr val="1A202C"/>
                </a:solidFill>
                <a:latin typeface="Georgia" pitchFamily="34" charset="0"/>
                <a:ea typeface="Georgia" pitchFamily="34" charset="-122"/>
                <a:cs typeface="Georgia" pitchFamily="34" charset="-120"/>
              </a:rPr>
              <a:t>Outcomes &amp; Key Learnings</a:t>
            </a:r>
            <a:endParaRPr lang="en-US" sz="3200" dirty="0"/>
          </a:p>
        </p:txBody>
      </p:sp>
      <p:sp>
        <p:nvSpPr>
          <p:cNvPr id="5" name="Shape 3"/>
          <p:cNvSpPr/>
          <p:nvPr/>
        </p:nvSpPr>
        <p:spPr>
          <a:xfrm>
            <a:off x="457200" y="1325880"/>
            <a:ext cx="8229600" cy="0"/>
          </a:xfrm>
          <a:prstGeom prst="line">
            <a:avLst/>
          </a:prstGeom>
          <a:noFill/>
          <a:ln w="12700">
            <a:solidFill>
              <a:srgbClr val="E2E8F0"/>
            </a:solidFill>
            <a:prstDash val="solid"/>
          </a:ln>
        </p:spPr>
        <p:txBody>
          <a:bodyPr/>
          <a:lstStyle/>
          <a:p>
            <a:endParaRPr lang="en-US"/>
          </a:p>
        </p:txBody>
      </p:sp>
      <p:sp>
        <p:nvSpPr>
          <p:cNvPr id="6" name="Shape 4"/>
          <p:cNvSpPr/>
          <p:nvPr/>
        </p:nvSpPr>
        <p:spPr>
          <a:xfrm>
            <a:off x="457200" y="1444752"/>
            <a:ext cx="2651760" cy="3246120"/>
          </a:xfrm>
          <a:prstGeom prst="rect">
            <a:avLst/>
          </a:prstGeom>
          <a:solidFill>
            <a:srgbClr val="F8F9FA"/>
          </a:solidFill>
          <a:ln w="9525">
            <a:solidFill>
              <a:srgbClr val="E2E8F0"/>
            </a:solidFill>
            <a:prstDash val="solid"/>
          </a:ln>
        </p:spPr>
        <p:txBody>
          <a:bodyPr/>
          <a:lstStyle/>
          <a:p>
            <a:endParaRPr lang="en-US"/>
          </a:p>
        </p:txBody>
      </p:sp>
      <p:sp>
        <p:nvSpPr>
          <p:cNvPr id="7" name="Shape 5"/>
          <p:cNvSpPr/>
          <p:nvPr/>
        </p:nvSpPr>
        <p:spPr>
          <a:xfrm>
            <a:off x="457200" y="1444752"/>
            <a:ext cx="2651760" cy="329184"/>
          </a:xfrm>
          <a:prstGeom prst="rect">
            <a:avLst/>
          </a:prstGeom>
          <a:solidFill>
            <a:srgbClr val="38A169"/>
          </a:solidFill>
          <a:ln w="12700">
            <a:solidFill>
              <a:srgbClr val="38A169"/>
            </a:solidFill>
            <a:prstDash val="solid"/>
          </a:ln>
        </p:spPr>
        <p:txBody>
          <a:bodyPr/>
          <a:lstStyle/>
          <a:p>
            <a:endParaRPr lang="en-US"/>
          </a:p>
        </p:txBody>
      </p:sp>
      <p:sp>
        <p:nvSpPr>
          <p:cNvPr id="8" name="Text 6"/>
          <p:cNvSpPr/>
          <p:nvPr/>
        </p:nvSpPr>
        <p:spPr>
          <a:xfrm>
            <a:off x="457200" y="1444752"/>
            <a:ext cx="265176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What Worked Well</a:t>
            </a:r>
            <a:endParaRPr lang="en-US" sz="1100" dirty="0"/>
          </a:p>
        </p:txBody>
      </p:sp>
      <p:sp>
        <p:nvSpPr>
          <p:cNvPr id="9" name="Text 7"/>
          <p:cNvSpPr/>
          <p:nvPr/>
        </p:nvSpPr>
        <p:spPr>
          <a:xfrm>
            <a:off x="594360" y="1865376"/>
            <a:ext cx="2377440" cy="2743200"/>
          </a:xfrm>
          <a:prstGeom prst="rect">
            <a:avLst/>
          </a:prstGeom>
          <a:noFill/>
          <a:ln/>
        </p:spPr>
        <p:txBody>
          <a:bodyPr wrap="square" rtlCol="0" anchor="ctr"/>
          <a:lstStyle/>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Design Thinking structured the process from user need to working prototype</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Prompt engineering was highly effective — complex behavior with no custom training</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10-scenario test plan caught edge cases before deployment</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Urgency tiering directly addressed the user's core anxiety</a:t>
            </a:r>
            <a:endParaRPr lang="en-US" sz="1050" dirty="0"/>
          </a:p>
        </p:txBody>
      </p:sp>
      <p:sp>
        <p:nvSpPr>
          <p:cNvPr id="10" name="Shape 8"/>
          <p:cNvSpPr/>
          <p:nvPr/>
        </p:nvSpPr>
        <p:spPr>
          <a:xfrm>
            <a:off x="3319272" y="1444752"/>
            <a:ext cx="2651760" cy="3246120"/>
          </a:xfrm>
          <a:prstGeom prst="rect">
            <a:avLst/>
          </a:prstGeom>
          <a:solidFill>
            <a:srgbClr val="F8F9FA"/>
          </a:solidFill>
          <a:ln w="9525">
            <a:solidFill>
              <a:srgbClr val="E2E8F0"/>
            </a:solidFill>
            <a:prstDash val="solid"/>
          </a:ln>
        </p:spPr>
        <p:txBody>
          <a:bodyPr/>
          <a:lstStyle/>
          <a:p>
            <a:endParaRPr lang="en-US"/>
          </a:p>
        </p:txBody>
      </p:sp>
      <p:sp>
        <p:nvSpPr>
          <p:cNvPr id="11" name="Shape 9"/>
          <p:cNvSpPr/>
          <p:nvPr/>
        </p:nvSpPr>
        <p:spPr>
          <a:xfrm>
            <a:off x="3319272" y="1444752"/>
            <a:ext cx="2651760" cy="329184"/>
          </a:xfrm>
          <a:prstGeom prst="rect">
            <a:avLst/>
          </a:prstGeom>
          <a:solidFill>
            <a:srgbClr val="D97706"/>
          </a:solidFill>
          <a:ln w="12700">
            <a:solidFill>
              <a:srgbClr val="D97706"/>
            </a:solidFill>
            <a:prstDash val="solid"/>
          </a:ln>
        </p:spPr>
        <p:txBody>
          <a:bodyPr/>
          <a:lstStyle/>
          <a:p>
            <a:endParaRPr lang="en-US"/>
          </a:p>
        </p:txBody>
      </p:sp>
      <p:sp>
        <p:nvSpPr>
          <p:cNvPr id="12" name="Text 10"/>
          <p:cNvSpPr/>
          <p:nvPr/>
        </p:nvSpPr>
        <p:spPr>
          <a:xfrm>
            <a:off x="3319272" y="1444752"/>
            <a:ext cx="265176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Challenges</a:t>
            </a:r>
            <a:endParaRPr lang="en-US" sz="1100" dirty="0"/>
          </a:p>
        </p:txBody>
      </p:sp>
      <p:sp>
        <p:nvSpPr>
          <p:cNvPr id="13" name="Text 11"/>
          <p:cNvSpPr/>
          <p:nvPr/>
        </p:nvSpPr>
        <p:spPr>
          <a:xfrm>
            <a:off x="3456432" y="1865376"/>
            <a:ext cx="2377440" cy="2743200"/>
          </a:xfrm>
          <a:prstGeom prst="rect">
            <a:avLst/>
          </a:prstGeom>
          <a:noFill/>
          <a:ln/>
        </p:spPr>
        <p:txBody>
          <a:bodyPr wrap="square" rtlCol="0" anchor="ctr"/>
          <a:lstStyle/>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LLMs can over-hedge — needed specific follow-up question instructions</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Balancing warmth with clinical accuracy required multiple prompt iterations</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Defining triage vs. diagnosis boundary required careful ethical reasoning</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Multi-symptom scenarios needed clearer handling instructions</a:t>
            </a:r>
            <a:endParaRPr lang="en-US" sz="1050" dirty="0"/>
          </a:p>
        </p:txBody>
      </p:sp>
      <p:sp>
        <p:nvSpPr>
          <p:cNvPr id="14" name="Shape 12"/>
          <p:cNvSpPr/>
          <p:nvPr/>
        </p:nvSpPr>
        <p:spPr>
          <a:xfrm>
            <a:off x="6181344" y="1444752"/>
            <a:ext cx="2651760" cy="3246120"/>
          </a:xfrm>
          <a:prstGeom prst="rect">
            <a:avLst/>
          </a:prstGeom>
          <a:solidFill>
            <a:srgbClr val="F8F9FA"/>
          </a:solidFill>
          <a:ln w="9525">
            <a:solidFill>
              <a:srgbClr val="E2E8F0"/>
            </a:solidFill>
            <a:prstDash val="solid"/>
          </a:ln>
        </p:spPr>
        <p:txBody>
          <a:bodyPr/>
          <a:lstStyle/>
          <a:p>
            <a:endParaRPr lang="en-US"/>
          </a:p>
        </p:txBody>
      </p:sp>
      <p:sp>
        <p:nvSpPr>
          <p:cNvPr id="15" name="Shape 13"/>
          <p:cNvSpPr/>
          <p:nvPr/>
        </p:nvSpPr>
        <p:spPr>
          <a:xfrm>
            <a:off x="6181344" y="1444752"/>
            <a:ext cx="2651760" cy="329184"/>
          </a:xfrm>
          <a:prstGeom prst="rect">
            <a:avLst/>
          </a:prstGeom>
          <a:solidFill>
            <a:srgbClr val="9B1C1C"/>
          </a:solidFill>
          <a:ln w="12700">
            <a:solidFill>
              <a:srgbClr val="9B1C1C"/>
            </a:solidFill>
            <a:prstDash val="solid"/>
          </a:ln>
        </p:spPr>
        <p:txBody>
          <a:bodyPr/>
          <a:lstStyle/>
          <a:p>
            <a:endParaRPr lang="en-US"/>
          </a:p>
        </p:txBody>
      </p:sp>
      <p:sp>
        <p:nvSpPr>
          <p:cNvPr id="16" name="Text 14"/>
          <p:cNvSpPr/>
          <p:nvPr/>
        </p:nvSpPr>
        <p:spPr>
          <a:xfrm>
            <a:off x="6181344" y="1444752"/>
            <a:ext cx="265176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Future Improvements</a:t>
            </a:r>
            <a:endParaRPr lang="en-US" sz="1100" dirty="0"/>
          </a:p>
        </p:txBody>
      </p:sp>
      <p:sp>
        <p:nvSpPr>
          <p:cNvPr id="17" name="Text 15"/>
          <p:cNvSpPr/>
          <p:nvPr/>
        </p:nvSpPr>
        <p:spPr>
          <a:xfrm>
            <a:off x="6318504" y="1865376"/>
            <a:ext cx="2377440" cy="2743200"/>
          </a:xfrm>
          <a:prstGeom prst="rect">
            <a:avLst/>
          </a:prstGeom>
          <a:noFill/>
          <a:ln/>
        </p:spPr>
        <p:txBody>
          <a:bodyPr wrap="square" rtlCol="0" anchor="ctr"/>
          <a:lstStyle/>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Add OBD-II error code lookup for users with a code reader</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Integrate urgency with a mechanic-finder suggestion (with user permission)</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Build a symptom history tracker for returning users</a:t>
            </a:r>
            <a:endParaRPr lang="en-US" sz="1050" dirty="0"/>
          </a:p>
          <a:p>
            <a:pPr marL="342900" indent="-342900">
              <a:spcAft>
                <a:spcPts val="600"/>
              </a:spcAft>
              <a:buSzPct val="100000"/>
              <a:buChar char="•"/>
            </a:pPr>
            <a:r>
              <a:rPr lang="en-US" sz="1050" dirty="0">
                <a:solidFill>
                  <a:srgbClr val="4A5568"/>
                </a:solidFill>
                <a:latin typeface="Calibri" pitchFamily="34" charset="0"/>
                <a:ea typeface="Calibri" pitchFamily="34" charset="-122"/>
                <a:cs typeface="Calibri" pitchFamily="34" charset="-120"/>
              </a:rPr>
              <a:t>Expand to motorcycle, truck, and EV-specific triage logic</a:t>
            </a:r>
            <a:endParaRPr lang="en-US" sz="1050" dirty="0"/>
          </a:p>
        </p:txBody>
      </p:sp>
      <p:sp>
        <p:nvSpPr>
          <p:cNvPr id="18" name="Text 16"/>
          <p:cNvSpPr/>
          <p:nvPr/>
        </p:nvSpPr>
        <p:spPr>
          <a:xfrm>
            <a:off x="457200" y="4645152"/>
            <a:ext cx="8229600" cy="292608"/>
          </a:xfrm>
          <a:prstGeom prst="rect">
            <a:avLst/>
          </a:prstGeom>
          <a:noFill/>
          <a:ln/>
        </p:spPr>
        <p:txBody>
          <a:bodyPr wrap="square" rtlCol="0" anchor="ctr"/>
          <a:lstStyle/>
          <a:p>
            <a:pPr marL="0" indent="0" algn="ctr">
              <a:buNone/>
            </a:pPr>
            <a:r>
              <a:rPr lang="en-US" sz="900" i="1" dirty="0">
                <a:solidFill>
                  <a:srgbClr val="9AA3B0"/>
                </a:solidFill>
                <a:latin typeface="Calibri" pitchFamily="34" charset="0"/>
                <a:ea typeface="Calibri" pitchFamily="34" charset="-122"/>
                <a:cs typeface="Calibri" pitchFamily="34" charset="-120"/>
              </a:rPr>
              <a:t>Design Thinking is not linear — iterations between phases strengthened both the bot's design and the quality of this documentation.</a:t>
            </a:r>
            <a:endParaRPr lang="en-US" sz="900" dirty="0"/>
          </a:p>
        </p:txBody>
      </p:sp>
      <p:sp>
        <p:nvSpPr>
          <p:cNvPr id="19" name="Shape 17"/>
          <p:cNvSpPr/>
          <p:nvPr/>
        </p:nvSpPr>
        <p:spPr>
          <a:xfrm>
            <a:off x="457200" y="4736592"/>
            <a:ext cx="8229600" cy="0"/>
          </a:xfrm>
          <a:prstGeom prst="line">
            <a:avLst/>
          </a:prstGeom>
          <a:noFill/>
          <a:ln w="12700">
            <a:solidFill>
              <a:srgbClr val="E2E8F0"/>
            </a:solidFill>
            <a:prstDash val="solid"/>
          </a:ln>
        </p:spPr>
        <p:txBody>
          <a:bodyPr/>
          <a:lstStyle/>
          <a:p>
            <a:endParaRPr lang="en-US"/>
          </a:p>
        </p:txBody>
      </p:sp>
      <p:sp>
        <p:nvSpPr>
          <p:cNvPr id="21" name="Text 19"/>
          <p:cNvSpPr/>
          <p:nvPr/>
        </p:nvSpPr>
        <p:spPr>
          <a:xfrm>
            <a:off x="8503920" y="4773168"/>
            <a:ext cx="411480" cy="228600"/>
          </a:xfrm>
          <a:prstGeom prst="rect">
            <a:avLst/>
          </a:prstGeom>
          <a:noFill/>
          <a:ln/>
        </p:spPr>
        <p:txBody>
          <a:bodyPr wrap="square" rtlCol="0" anchor="ctr"/>
          <a:lstStyle/>
          <a:p>
            <a:pPr marL="0" indent="0" algn="r">
              <a:buNone/>
            </a:pPr>
            <a:r>
              <a:rPr lang="en-US" sz="900" dirty="0">
                <a:solidFill>
                  <a:srgbClr val="9AA3B0"/>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a:effectLst/>
      </p:bgPr>
    </p:bg>
    <p:spTree>
      <p:nvGrpSpPr>
        <p:cNvPr id="1" name=""/>
        <p:cNvGrpSpPr/>
        <p:nvPr/>
      </p:nvGrpSpPr>
      <p:grpSpPr>
        <a:xfrm>
          <a:off x="0" y="0"/>
          <a:ext cx="0" cy="0"/>
          <a:chOff x="0" y="0"/>
          <a:chExt cx="0" cy="0"/>
        </a:xfrm>
      </p:grpSpPr>
      <p:sp>
        <p:nvSpPr>
          <p:cNvPr id="2" name="Text 0"/>
          <p:cNvSpPr/>
          <p:nvPr/>
        </p:nvSpPr>
        <p:spPr>
          <a:xfrm>
            <a:off x="457200" y="411480"/>
            <a:ext cx="8229600" cy="658368"/>
          </a:xfrm>
          <a:prstGeom prst="rect">
            <a:avLst/>
          </a:prstGeom>
          <a:noFill/>
          <a:ln/>
        </p:spPr>
        <p:txBody>
          <a:bodyPr wrap="square" rtlCol="0" anchor="ctr"/>
          <a:lstStyle/>
          <a:p>
            <a:pPr marL="0" indent="0">
              <a:buNone/>
            </a:pPr>
            <a:r>
              <a:rPr lang="en-US" sz="3400" b="1" dirty="0">
                <a:solidFill>
                  <a:srgbClr val="1A202C"/>
                </a:solidFill>
                <a:latin typeface="Georgia" pitchFamily="34" charset="0"/>
                <a:ea typeface="Georgia" pitchFamily="34" charset="-122"/>
                <a:cs typeface="Georgia" pitchFamily="34" charset="-120"/>
              </a:rPr>
              <a:t>References</a:t>
            </a:r>
            <a:endParaRPr lang="en-US" sz="3400" dirty="0"/>
          </a:p>
        </p:txBody>
      </p:sp>
      <p:sp>
        <p:nvSpPr>
          <p:cNvPr id="3" name="Shape 1"/>
          <p:cNvSpPr/>
          <p:nvPr/>
        </p:nvSpPr>
        <p:spPr>
          <a:xfrm>
            <a:off x="457200" y="1115568"/>
            <a:ext cx="8229600" cy="0"/>
          </a:xfrm>
          <a:prstGeom prst="line">
            <a:avLst/>
          </a:prstGeom>
          <a:noFill/>
          <a:ln w="25400">
            <a:solidFill>
              <a:srgbClr val="9B1C1C"/>
            </a:solidFill>
            <a:prstDash val="solid"/>
          </a:ln>
        </p:spPr>
        <p:txBody>
          <a:bodyPr/>
          <a:lstStyle/>
          <a:p>
            <a:endParaRPr lang="en-US"/>
          </a:p>
        </p:txBody>
      </p:sp>
      <p:sp>
        <p:nvSpPr>
          <p:cNvPr id="4" name="Shape 2"/>
          <p:cNvSpPr/>
          <p:nvPr/>
        </p:nvSpPr>
        <p:spPr>
          <a:xfrm>
            <a:off x="457200" y="1261872"/>
            <a:ext cx="8229600" cy="603504"/>
          </a:xfrm>
          <a:prstGeom prst="rect">
            <a:avLst/>
          </a:prstGeom>
          <a:solidFill>
            <a:srgbClr val="FFFFFF"/>
          </a:solidFill>
          <a:ln w="6350">
            <a:solidFill>
              <a:srgbClr val="E2E8F0"/>
            </a:solidFill>
            <a:prstDash val="solid"/>
          </a:ln>
        </p:spPr>
        <p:txBody>
          <a:bodyPr/>
          <a:lstStyle/>
          <a:p>
            <a:endParaRPr lang="en-US"/>
          </a:p>
        </p:txBody>
      </p:sp>
      <p:sp>
        <p:nvSpPr>
          <p:cNvPr id="5" name="Shape 3"/>
          <p:cNvSpPr/>
          <p:nvPr/>
        </p:nvSpPr>
        <p:spPr>
          <a:xfrm>
            <a:off x="457200" y="1261872"/>
            <a:ext cx="54864" cy="603504"/>
          </a:xfrm>
          <a:prstGeom prst="rect">
            <a:avLst/>
          </a:prstGeom>
          <a:solidFill>
            <a:srgbClr val="F87171"/>
          </a:solidFill>
          <a:ln w="12700">
            <a:solidFill>
              <a:srgbClr val="F87171"/>
            </a:solidFill>
            <a:prstDash val="solid"/>
          </a:ln>
        </p:spPr>
        <p:txBody>
          <a:bodyPr/>
          <a:lstStyle/>
          <a:p>
            <a:endParaRPr lang="en-US"/>
          </a:p>
        </p:txBody>
      </p:sp>
      <p:sp>
        <p:nvSpPr>
          <p:cNvPr id="6" name="Text 4"/>
          <p:cNvSpPr/>
          <p:nvPr/>
        </p:nvSpPr>
        <p:spPr>
          <a:xfrm>
            <a:off x="621792" y="1280160"/>
            <a:ext cx="7955280" cy="566928"/>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Brown, T., Mann, B., Ryder, N., Subbiah, M., Kaplan, J. D., Dhariwal, P., Neelakantan, A., Shyam, P., Sastry, G., Askell, A., Agarwal, S., Herbert-Voss, A., Krueger, G., Henighan, T., Child, R., Ramesh, A., Ziegler, D., Wu, J., Winter, C., . . . Amodei, D. (2020). Language models are few-shot learners. Advances in Neural Information Processing Systems, 33, 1877–1901.</a:t>
            </a:r>
            <a:endParaRPr lang="en-US" sz="950" dirty="0"/>
          </a:p>
        </p:txBody>
      </p:sp>
      <p:sp>
        <p:nvSpPr>
          <p:cNvPr id="7" name="Shape 5"/>
          <p:cNvSpPr/>
          <p:nvPr/>
        </p:nvSpPr>
        <p:spPr>
          <a:xfrm>
            <a:off x="457200" y="1920240"/>
            <a:ext cx="8229600" cy="603504"/>
          </a:xfrm>
          <a:prstGeom prst="rect">
            <a:avLst/>
          </a:prstGeom>
          <a:solidFill>
            <a:srgbClr val="F8F9FA"/>
          </a:solidFill>
          <a:ln w="6350">
            <a:solidFill>
              <a:srgbClr val="E2E8F0"/>
            </a:solidFill>
            <a:prstDash val="solid"/>
          </a:ln>
        </p:spPr>
        <p:txBody>
          <a:bodyPr/>
          <a:lstStyle/>
          <a:p>
            <a:endParaRPr lang="en-US"/>
          </a:p>
        </p:txBody>
      </p:sp>
      <p:sp>
        <p:nvSpPr>
          <p:cNvPr id="8" name="Shape 6"/>
          <p:cNvSpPr/>
          <p:nvPr/>
        </p:nvSpPr>
        <p:spPr>
          <a:xfrm>
            <a:off x="457200" y="1920240"/>
            <a:ext cx="54864" cy="603504"/>
          </a:xfrm>
          <a:prstGeom prst="rect">
            <a:avLst/>
          </a:prstGeom>
          <a:solidFill>
            <a:srgbClr val="F87171"/>
          </a:solidFill>
          <a:ln w="12700">
            <a:solidFill>
              <a:srgbClr val="F87171"/>
            </a:solidFill>
            <a:prstDash val="solid"/>
          </a:ln>
        </p:spPr>
        <p:txBody>
          <a:bodyPr/>
          <a:lstStyle/>
          <a:p>
            <a:endParaRPr lang="en-US"/>
          </a:p>
        </p:txBody>
      </p:sp>
      <p:sp>
        <p:nvSpPr>
          <p:cNvPr id="9" name="Text 7"/>
          <p:cNvSpPr/>
          <p:nvPr/>
        </p:nvSpPr>
        <p:spPr>
          <a:xfrm>
            <a:off x="621792" y="1938528"/>
            <a:ext cx="7955280" cy="566928"/>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IDEO. (2015). The field guide to human-centered design (1st ed.). IDEO.org. https://www.designkit.org/resources/1</a:t>
            </a:r>
            <a:endParaRPr lang="en-US" sz="950" dirty="0"/>
          </a:p>
        </p:txBody>
      </p:sp>
      <p:sp>
        <p:nvSpPr>
          <p:cNvPr id="10" name="Shape 8"/>
          <p:cNvSpPr/>
          <p:nvPr/>
        </p:nvSpPr>
        <p:spPr>
          <a:xfrm>
            <a:off x="457200" y="2578608"/>
            <a:ext cx="8229600" cy="603504"/>
          </a:xfrm>
          <a:prstGeom prst="rect">
            <a:avLst/>
          </a:prstGeom>
          <a:solidFill>
            <a:srgbClr val="FFFFFF"/>
          </a:solidFill>
          <a:ln w="6350">
            <a:solidFill>
              <a:srgbClr val="E2E8F0"/>
            </a:solidFill>
            <a:prstDash val="solid"/>
          </a:ln>
        </p:spPr>
        <p:txBody>
          <a:bodyPr/>
          <a:lstStyle/>
          <a:p>
            <a:endParaRPr lang="en-US"/>
          </a:p>
        </p:txBody>
      </p:sp>
      <p:sp>
        <p:nvSpPr>
          <p:cNvPr id="11" name="Shape 9"/>
          <p:cNvSpPr/>
          <p:nvPr/>
        </p:nvSpPr>
        <p:spPr>
          <a:xfrm>
            <a:off x="457200" y="2578608"/>
            <a:ext cx="54864" cy="603504"/>
          </a:xfrm>
          <a:prstGeom prst="rect">
            <a:avLst/>
          </a:prstGeom>
          <a:solidFill>
            <a:srgbClr val="F87171"/>
          </a:solidFill>
          <a:ln w="12700">
            <a:solidFill>
              <a:srgbClr val="F87171"/>
            </a:solidFill>
            <a:prstDash val="solid"/>
          </a:ln>
        </p:spPr>
        <p:txBody>
          <a:bodyPr/>
          <a:lstStyle/>
          <a:p>
            <a:endParaRPr lang="en-US"/>
          </a:p>
        </p:txBody>
      </p:sp>
      <p:sp>
        <p:nvSpPr>
          <p:cNvPr id="12" name="Text 10"/>
          <p:cNvSpPr/>
          <p:nvPr/>
        </p:nvSpPr>
        <p:spPr>
          <a:xfrm>
            <a:off x="621792" y="2596896"/>
            <a:ext cx="7955280" cy="566928"/>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OpenAI. (2023). GPT-4 technical report. arXiv. https://doi.org/10.48550/arXiv.2303.08774</a:t>
            </a:r>
            <a:endParaRPr lang="en-US" sz="950" dirty="0"/>
          </a:p>
        </p:txBody>
      </p:sp>
      <p:sp>
        <p:nvSpPr>
          <p:cNvPr id="13" name="Shape 11"/>
          <p:cNvSpPr/>
          <p:nvPr/>
        </p:nvSpPr>
        <p:spPr>
          <a:xfrm>
            <a:off x="457200" y="3236976"/>
            <a:ext cx="8229600" cy="603504"/>
          </a:xfrm>
          <a:prstGeom prst="rect">
            <a:avLst/>
          </a:prstGeom>
          <a:solidFill>
            <a:srgbClr val="F8F9FA"/>
          </a:solidFill>
          <a:ln w="6350">
            <a:solidFill>
              <a:srgbClr val="E2E8F0"/>
            </a:solidFill>
            <a:prstDash val="solid"/>
          </a:ln>
        </p:spPr>
        <p:txBody>
          <a:bodyPr/>
          <a:lstStyle/>
          <a:p>
            <a:endParaRPr lang="en-US"/>
          </a:p>
        </p:txBody>
      </p:sp>
      <p:sp>
        <p:nvSpPr>
          <p:cNvPr id="14" name="Shape 12"/>
          <p:cNvSpPr/>
          <p:nvPr/>
        </p:nvSpPr>
        <p:spPr>
          <a:xfrm>
            <a:off x="457200" y="3236976"/>
            <a:ext cx="54864" cy="603504"/>
          </a:xfrm>
          <a:prstGeom prst="rect">
            <a:avLst/>
          </a:prstGeom>
          <a:solidFill>
            <a:srgbClr val="F87171"/>
          </a:solidFill>
          <a:ln w="12700">
            <a:solidFill>
              <a:srgbClr val="F87171"/>
            </a:solidFill>
            <a:prstDash val="solid"/>
          </a:ln>
        </p:spPr>
        <p:txBody>
          <a:bodyPr/>
          <a:lstStyle/>
          <a:p>
            <a:endParaRPr lang="en-US"/>
          </a:p>
        </p:txBody>
      </p:sp>
      <p:sp>
        <p:nvSpPr>
          <p:cNvPr id="15" name="Text 13"/>
          <p:cNvSpPr/>
          <p:nvPr/>
        </p:nvSpPr>
        <p:spPr>
          <a:xfrm>
            <a:off x="621792" y="3255264"/>
            <a:ext cx="7955280" cy="566928"/>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Stanford University. (2024). STORM AI: Synthesis of topic outlines through retrieval and multi-perspective question asking. Stanford NLP Group. https://storm.genie.stanford.edu</a:t>
            </a:r>
            <a:endParaRPr lang="en-US" sz="950" dirty="0"/>
          </a:p>
        </p:txBody>
      </p:sp>
      <p:sp>
        <p:nvSpPr>
          <p:cNvPr id="16" name="Shape 14"/>
          <p:cNvSpPr/>
          <p:nvPr/>
        </p:nvSpPr>
        <p:spPr>
          <a:xfrm>
            <a:off x="457200" y="3895344"/>
            <a:ext cx="8229600" cy="603504"/>
          </a:xfrm>
          <a:prstGeom prst="rect">
            <a:avLst/>
          </a:prstGeom>
          <a:solidFill>
            <a:srgbClr val="FFFFFF"/>
          </a:solidFill>
          <a:ln w="6350">
            <a:solidFill>
              <a:srgbClr val="E2E8F0"/>
            </a:solidFill>
            <a:prstDash val="solid"/>
          </a:ln>
        </p:spPr>
        <p:txBody>
          <a:bodyPr/>
          <a:lstStyle/>
          <a:p>
            <a:endParaRPr lang="en-US"/>
          </a:p>
        </p:txBody>
      </p:sp>
      <p:sp>
        <p:nvSpPr>
          <p:cNvPr id="17" name="Shape 15"/>
          <p:cNvSpPr/>
          <p:nvPr/>
        </p:nvSpPr>
        <p:spPr>
          <a:xfrm>
            <a:off x="457200" y="3895344"/>
            <a:ext cx="54864" cy="603504"/>
          </a:xfrm>
          <a:prstGeom prst="rect">
            <a:avLst/>
          </a:prstGeom>
          <a:solidFill>
            <a:srgbClr val="F87171"/>
          </a:solidFill>
          <a:ln w="12700">
            <a:solidFill>
              <a:srgbClr val="F87171"/>
            </a:solidFill>
            <a:prstDash val="solid"/>
          </a:ln>
        </p:spPr>
        <p:txBody>
          <a:bodyPr/>
          <a:lstStyle/>
          <a:p>
            <a:endParaRPr lang="en-US"/>
          </a:p>
        </p:txBody>
      </p:sp>
      <p:sp>
        <p:nvSpPr>
          <p:cNvPr id="18" name="Text 16"/>
          <p:cNvSpPr/>
          <p:nvPr/>
        </p:nvSpPr>
        <p:spPr>
          <a:xfrm>
            <a:off x="621792" y="3913632"/>
            <a:ext cx="7955280" cy="566928"/>
          </a:xfrm>
          <a:prstGeom prst="rect">
            <a:avLst/>
          </a:prstGeom>
          <a:noFill/>
          <a:ln/>
        </p:spPr>
        <p:txBody>
          <a:bodyPr wrap="square" rtlCol="0" anchor="ctr"/>
          <a:lstStyle/>
          <a:p>
            <a:pPr marL="0" indent="0">
              <a:buNone/>
            </a:pPr>
            <a:r>
              <a:rPr lang="en-US" sz="950" dirty="0">
                <a:solidFill>
                  <a:srgbClr val="4A5568"/>
                </a:solidFill>
                <a:latin typeface="Calibri" pitchFamily="34" charset="0"/>
                <a:ea typeface="Calibri" pitchFamily="34" charset="-122"/>
                <a:cs typeface="Calibri" pitchFamily="34" charset="-120"/>
              </a:rPr>
              <a:t>White, J., Fu, Q., Hays, S., Sandborn, M., Olea, C., Gilbert, H., Elnashar, A., Spencer-Smith, J., &amp; Schmidt, D. C. (2023). A prompt pattern catalog to enhance prompt engineering with ChatGPT. arXiv. https://doi.org/10.48550/arXiv.2302.11382</a:t>
            </a:r>
            <a:endParaRPr lang="en-US" sz="950" dirty="0"/>
          </a:p>
        </p:txBody>
      </p:sp>
      <p:sp>
        <p:nvSpPr>
          <p:cNvPr id="20" name="Text 18"/>
          <p:cNvSpPr/>
          <p:nvPr/>
        </p:nvSpPr>
        <p:spPr>
          <a:xfrm>
            <a:off x="8503920" y="4773168"/>
            <a:ext cx="411480" cy="228600"/>
          </a:xfrm>
          <a:prstGeom prst="rect">
            <a:avLst/>
          </a:prstGeom>
          <a:noFill/>
          <a:ln/>
        </p:spPr>
        <p:txBody>
          <a:bodyPr wrap="square" rtlCol="0" anchor="ctr"/>
          <a:lstStyle/>
          <a:p>
            <a:pPr marL="0" indent="0" algn="r">
              <a:buNone/>
            </a:pPr>
            <a:r>
              <a:rPr lang="en-US" sz="900" dirty="0">
                <a:solidFill>
                  <a:srgbClr val="9AA3B0"/>
                </a:solidFill>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3104</Words>
  <Application>Microsoft Office PowerPoint</Application>
  <PresentationFormat>On-screen Show (16:9)</PresentationFormat>
  <Paragraphs>208</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A-iButler: AI Lab Documentation — AIML-500</dc:title>
  <dc:subject>PptxGenJS Presentation</dc:subject>
  <dc:creator>AIML-500 Student</dc:creator>
  <cp:lastModifiedBy>Somto Anyaegbu</cp:lastModifiedBy>
  <cp:revision>4</cp:revision>
  <dcterms:created xsi:type="dcterms:W3CDTF">2026-03-15T08:51:17Z</dcterms:created>
  <dcterms:modified xsi:type="dcterms:W3CDTF">2026-03-16T01:27:04Z</dcterms:modified>
</cp:coreProperties>
</file>